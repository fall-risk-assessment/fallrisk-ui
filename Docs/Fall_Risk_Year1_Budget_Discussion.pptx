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00503000000020004"/>
      <p:regular r:id="rId11"/>
      <p:bold r:id="rId12"/>
    </p:embeddedFont>
    <p:embeddedFont>
      <p:font typeface="Inter Medium" panose="02000503000000020004"/>
      <p:regular r:id="rId13"/>
    </p:embeddedFont>
    <p:embeddedFont>
      <p:font typeface="Inter SemiBold" panose="02000503000000020004"/>
      <p:regular r:id="rId14"/>
      <p:bold r:id="rId15"/>
    </p:embeddedFont>
  </p:embeddedFontLst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7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https://docs.google.com/document/d/1fymCOf0TCIy1SJ-n1Z1JHiUwKK57GVMCgPRsVgtfhFE/edit?usp=sharing</a:t>
            </a:r>
          </a:p>
          <a:p>
            <a:endParaRPr/>
          </a:p>
          <a:p>
            <a:r>
              <a:t>เปิดการประชุมด้วยเป้าหมาย: ยืนยันกรอบงบปีที่ 1 และเงื่อนไขการดำเนินงาน.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https://docs.google.com/document/d/1fymCOf0TCIy1SJ-n1Z1JHiUwKK57GVMCgPRsVgtfhFE/edit?usp=sharing</a:t>
            </a:r>
          </a:p>
          <a:p>
            <a:endParaRPr/>
          </a:p>
          <a:p>
            <a:r>
              <a:t>ใช้เป็นกรอบการสนทนา ไม่ใช่รายงานสถานะโครงการ.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https://docs.google.com/document/d/1fymCOf0TCIy1SJ-n1Z1JHiUwKK57GVMCgPRsVgtfhFE/edit?usp=sharing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ขอความเห็นชอบต่อสามประเด็นก่อนเริ่มจัดซื้อและล็อกแผนส่งมอบ.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https://docs.google.com/document/d/1fymCOf0TCIy1SJ-n1Z1JHiUwKK57GVMCgPRsVgtfhFE/edit?usp=sharing</a:t>
            </a:r>
          </a:p>
          <a:p>
            <a:endParaRPr/>
          </a:p>
          <a:p>
            <a:r>
              <a:t>เงินที่ได้รับแบ่งเป็น 400,000 / 100,000 / 100,000 บาท รวม 600,000 บาท. สไลด์นี้ไม่สรุปการจัดสรรส่วนต่าง 300,000 บาท.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https://docs.google.com/document/d/1fymCOf0TCIy1SJ-n1Z1JHiUwKK57GVMCgPRsVgtfhFE/edit?usp=sharing</a:t>
            </a:r>
          </a:p>
          <a:p>
            <a:endParaRPr/>
          </a:p>
          <a:p>
            <a:r>
              <a:t>ตรวจสอบผลรวม: 60,000 + 105,000 + 35,000 + 100,000 = 300,000 บาท. Hardware/IoT รวม 200,000 บาท และ Software รวม 100,000 บาท.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https://docs.google.com/document/d/1fymCOf0TCIy1SJ-n1Z1JHiUwKK57GVMCgPRsVgtfhFE/edit?usp=sharing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สรุประยะเวลาดำเนินงาน 12 เดือน. กล้อง AI เดือน 1–4, Pressure Mat เดือน 1–6, Insole เดือน 1–5 และ Software V1 เดือน 1–12.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https://docs.google.com/document/d/1fymCOf0TCIy1SJ-n1Z1JHiUwKK57GVMCgPRsVgtfhFE/edit?usp=sharing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เอกสารต้นทางยังระบุว่างาน Embedded/IoT ต้องสรุปร่วมกัน จึงต้องยืนยันก่อนเดินหน้าตามงวด.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https://docs.google.com/document/d/1fymCOf0TCIy1SJ-n1Z1JHiUwKK57GVMCgPRsVgtfhFE/edit?usp=sharing</a:t>
            </a:r>
          </a:p>
          <a:p>
            <a:endParaRPr/>
          </a:p>
          <a:p>
            <a:r>
              <a:t>ปิดการประชุมด้วยรายการยืนยันที่นำไปใช้จัดทำแผนจัดซื้อและแผนเบิกจ่ายฉบับถัดไป.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7" orient="horz" pos="248">
          <p15:clr>
            <a:srgbClr val="F26B43"/>
          </p15:clr>
        </p15:guide>
        <p15:guide id="18" orient="horz" pos="656">
          <p15:clr>
            <a:srgbClr val="F26B43"/>
          </p15:clr>
        </p15:guide>
        <p15:guide id="19" orient="horz" pos="872">
          <p15:clr>
            <a:srgbClr val="F26B43"/>
          </p15:clr>
        </p15:guide>
        <p15:guide id="20" orient="horz" pos="1280">
          <p15:clr>
            <a:srgbClr val="F26B43"/>
          </p15:clr>
        </p15:guide>
        <p15:guide id="21" orient="horz" pos="1496">
          <p15:clr>
            <a:srgbClr val="F26B43"/>
          </p15:clr>
        </p15:guide>
        <p15:guide id="22" orient="horz" pos="1904">
          <p15:clr>
            <a:srgbClr val="F26B43"/>
          </p15:clr>
        </p15:guide>
        <p15:guide id="23" orient="horz" pos="2120">
          <p15:clr>
            <a:srgbClr val="F26B43"/>
          </p15:clr>
        </p15:guide>
        <p15:guide id="24" orient="horz" pos="2528">
          <p15:clr>
            <a:srgbClr val="F26B43"/>
          </p15:clr>
        </p15:guide>
        <p15:guide id="25" orient="horz" pos="2744">
          <p15:clr>
            <a:srgbClr val="F26B43"/>
          </p15:clr>
        </p15:guide>
        <p15:guide id="26" orient="horz" pos="3152">
          <p15:clr>
            <a:srgbClr val="F26B43"/>
          </p15:clr>
        </p15:guide>
        <p15:guide id="27" orient="horz" pos="3368">
          <p15:clr>
            <a:srgbClr val="F26B43"/>
          </p15:clr>
        </p15:guide>
        <p15:guide id="28" orient="horz" pos="3776">
          <p15:clr>
            <a:srgbClr val="F26B43"/>
          </p15:clr>
        </p15:guide>
        <p15:guide id="29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66174"/>
            <a:ext cx="9448800" cy="2203686"/>
          </a:xfrm>
        </p:spPr>
        <p:txBody>
          <a:bodyPr>
            <a:noAutofit/>
          </a:bodyPr>
          <a:lstStyle/>
          <a:p>
            <a:pPr algn="ctr">
              <a:buNone/>
              <a:defRPr>
                <a:solidFill>
                  <a:srgbClr val="E91E63"/>
                </a:solidFill>
              </a:defRPr>
            </a:pPr>
            <a:r>
              <a:rPr sz="7200" dirty="0">
                <a:solidFill>
                  <a:srgbClr val="E91E63"/>
                </a:solidFill>
              </a:rPr>
              <a:t>Fall Risk</a:t>
            </a:r>
          </a:p>
          <a:p>
            <a:pPr algn="ctr">
              <a:buNone/>
              <a:defRPr>
                <a:solidFill>
                  <a:srgbClr val="E91E63"/>
                </a:solidFill>
              </a:defRPr>
            </a:pPr>
            <a:r>
              <a:rPr sz="7200" dirty="0">
                <a:solidFill>
                  <a:srgbClr val="E91E63"/>
                </a:solidFill>
              </a:rPr>
              <a:t>Budget Discussion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noGrp="1"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>
                <a:solidFill>
                  <a:srgbClr val="2B2B2B"/>
                </a:solidFill>
              </a:defRPr>
            </a:pPr>
            <a:r>
              <a:rPr sz="2200">
                <a:solidFill>
                  <a:srgbClr val="2B2B2B"/>
                </a:solidFill>
                <a:latin typeface="Inter Medium"/>
                <a:ea typeface="Inter Medium"/>
                <a:cs typeface="Inter Medium"/>
              </a:rPr>
              <a:t>แผนงบประมาณโครงการย่อย ปีที่ 1 เพื่อหารือและยืนยันกับอาจารย์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noGrp="1"/>
          </p:cNvSpPr>
          <p:nvPr/>
        </p:nvSpPr>
        <p:spPr>
          <a:xfrm>
            <a:off x="4793264" y="1096027"/>
            <a:ext cx="2604013" cy="488816"/>
          </a:xfrm>
          <a:prstGeom prst="roundRect">
            <a:avLst>
              <a:gd name="adj" fmla="val 50000"/>
            </a:avLst>
          </a:prstGeom>
          <a:solidFill>
            <a:srgbClr val="E91E63"/>
          </a:solidFill>
          <a:ln w="9525">
            <a:solidFill>
              <a:srgbClr val="E91E6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Year 1 · Fall Risk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00000000-1234-1234-1234-123412341234}" type="slidenum">
              <a:rPr/>
              <a:t>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4229100" cy="519595"/>
          </a:xfrm>
        </p:spPr>
        <p:txBody>
          <a:bodyPr/>
          <a:lstStyle/>
          <a:p>
            <a:pPr>
              <a:defRPr>
                <a:solidFill>
                  <a:srgbClr val="E91E63"/>
                </a:solidFill>
              </a:defRPr>
            </a:pPr>
            <a:r>
              <a:rPr>
                <a:solidFill>
                  <a:srgbClr val="E91E63"/>
                </a:solidFill>
              </a:rPr>
              <a:t>วาระการหารืองบประมาณปีที่ 1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="393700" y="1881809"/>
          <a:ext cx="11404600" cy="4112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2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2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วัตถุประสงค์และกรอบการตัดสินใจ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ทีมโครงการ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1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ภาพรวมเงินทุนจาก กทปส.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อภิปราย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งบโครงการย่อย Fall Risk ปีที่ 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อภิปราย</a:t>
                      </a:r>
                      <a:endParaRPr sz="2500" b="0" i="0" u="none" kern="1200" cap="none" spc="0" baseline="0">
                        <a:ln>
                          <a:noFill/>
                        </a:ln>
                        <a:solidFill>
                          <a:srgbClr val="BCEF59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แผนจัดซื้อและส่งมอบ 12 เดือน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ทีมโครงการ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บทบาท Hardware / Software / Embedded–IoT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อภิปราย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ข้อสรุปที่ต้องยืนยัน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2B2B2B"/>
                          </a:solidFill>
                          <a:latin typeface="+mn-lt"/>
                          <a:ea typeface="+mn-lt"/>
                          <a:cs typeface="+mn-lt"/>
                        </a:rPr>
                        <a:t>อาจารย์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344043"/>
            <a:ext cx="11404568" cy="8001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solidFill>
                  <a:srgbClr val="E91E63"/>
                </a:solidFill>
              </a:defRPr>
            </a:pPr>
            <a:r>
              <a:rPr>
                <a:solidFill>
                  <a:srgbClr val="E91E63"/>
                </a:solidFill>
              </a:rPr>
              <a:t>ประเด็นที่ต้องยืนยันในการประชุม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2B2B2B"/>
                </a:solidFill>
              </a:defRPr>
            </a:pPr>
            <a:r>
              <a:rPr sz="2000" b="1" dirty="0" err="1">
                <a:solidFill>
                  <a:srgbClr val="2B2B2B"/>
                </a:solidFill>
                <a:latin typeface="Inter SemiBold"/>
                <a:ea typeface="Inter SemiBold"/>
                <a:cs typeface="Inter SemiBold"/>
              </a:rPr>
              <a:t>กรอบงบ</a:t>
            </a:r>
            <a:endParaRPr sz="2000" b="1" dirty="0">
              <a:latin typeface="Inter SemiBold"/>
              <a:ea typeface="Inter SemiBold"/>
              <a:cs typeface="Inter SemiBol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2B2B2B"/>
                </a:solidFill>
              </a:defRPr>
            </a:pPr>
            <a:r>
              <a:rPr sz="2000" dirty="0">
                <a:solidFill>
                  <a:srgbClr val="2B2B2B"/>
                </a:solidFill>
                <a:latin typeface="Inter"/>
                <a:ea typeface="Inter"/>
                <a:cs typeface="Inter"/>
              </a:rPr>
              <a:t>Fall Risk </a:t>
            </a:r>
            <a:r>
              <a:rPr sz="2000" dirty="0" err="1">
                <a:solidFill>
                  <a:srgbClr val="2B2B2B"/>
                </a:solidFill>
                <a:latin typeface="Inter"/>
                <a:ea typeface="Inter"/>
                <a:cs typeface="Inter"/>
              </a:rPr>
              <a:t>ปีที่</a:t>
            </a:r>
            <a:r>
              <a:rPr sz="2000" dirty="0">
                <a:solidFill>
                  <a:srgbClr val="2B2B2B"/>
                </a:solidFill>
                <a:latin typeface="Inter"/>
                <a:ea typeface="Inter"/>
                <a:cs typeface="Inter"/>
              </a:rPr>
              <a:t> 1 </a:t>
            </a:r>
            <a:r>
              <a:rPr sz="2000" dirty="0" err="1">
                <a:solidFill>
                  <a:srgbClr val="2B2B2B"/>
                </a:solidFill>
                <a:latin typeface="Inter"/>
                <a:ea typeface="Inter"/>
                <a:cs typeface="Inter"/>
              </a:rPr>
              <a:t>ใช้งบ</a:t>
            </a:r>
            <a:r>
              <a:rPr sz="2000" dirty="0">
                <a:solidFill>
                  <a:srgbClr val="2B2B2B"/>
                </a:solidFill>
                <a:latin typeface="Inter"/>
                <a:ea typeface="Inter"/>
                <a:cs typeface="Inter"/>
              </a:rPr>
              <a:t> 300,000 </a:t>
            </a:r>
            <a:r>
              <a:rPr sz="2000" dirty="0" err="1">
                <a:solidFill>
                  <a:srgbClr val="2B2B2B"/>
                </a:solidFill>
                <a:latin typeface="Inter"/>
                <a:ea typeface="Inter"/>
                <a:cs typeface="Inter"/>
              </a:rPr>
              <a:t>บาท</a:t>
            </a:r>
            <a:endParaRPr sz="2000" dirty="0">
              <a:latin typeface="Inter"/>
              <a:ea typeface="Inter"/>
              <a:cs typeface="Inter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>
                <a:solidFill>
                  <a:srgbClr val="2B2B2B"/>
                </a:solidFill>
              </a:defRPr>
            </a:pPr>
            <a:r>
              <a:rPr sz="2000" b="1" dirty="0" err="1">
                <a:solidFill>
                  <a:srgbClr val="2B2B2B"/>
                </a:solidFill>
                <a:latin typeface="Inter SemiBold"/>
                <a:ea typeface="Inter SemiBold"/>
                <a:cs typeface="Inter SemiBold"/>
              </a:rPr>
              <a:t>บทบาทและเกณฑ์ผ่าน</a:t>
            </a:r>
            <a:endParaRPr sz="2000" b="1" dirty="0">
              <a:solidFill>
                <a:srgbClr val="2B2B2B"/>
              </a:solidFill>
              <a:latin typeface="Inter SemiBold"/>
              <a:ea typeface="Inter SemiBold"/>
              <a:cs typeface="Inter SemiBold"/>
            </a:endParaRP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solidFill>
                  <a:srgbClr val="2B2B2B"/>
                </a:solidFill>
              </a:defRPr>
            </a:pPr>
            <a:r>
              <a:rPr sz="2000" b="0" i="0" u="none" cap="none" spc="0" dirty="0" err="1">
                <a:ln>
                  <a:noFill/>
                </a:ln>
                <a:solidFill>
                  <a:srgbClr val="2B2B2B"/>
                </a:solidFill>
                <a:latin typeface="Inter"/>
                <a:ea typeface="Inter"/>
                <a:cs typeface="Inter"/>
              </a:rPr>
              <a:t>ยืนยันเจ้าภาพงานและเงื่อนไขก่อนเบิกจ่ายแต่ละงวด</a:t>
            </a:r>
            <a:endParaRPr sz="2000" b="0" i="0" u="none" cap="none" spc="0" dirty="0">
              <a:ln>
                <a:noFill/>
              </a:ln>
              <a:solidFill>
                <a:srgbClr val="2B2B2B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>
                <a:solidFill>
                  <a:srgbClr val="2B2B2B"/>
                </a:solidFill>
              </a:defRPr>
            </a:pPr>
            <a:r>
              <a:rPr sz="2000" b="1" dirty="0" err="1">
                <a:solidFill>
                  <a:srgbClr val="2B2B2B"/>
                </a:solidFill>
                <a:latin typeface="Inter SemiBold"/>
                <a:ea typeface="Inter SemiBold"/>
                <a:cs typeface="Inter SemiBold"/>
              </a:rPr>
              <a:t>การจัดสรรเงิน</a:t>
            </a:r>
            <a:endParaRPr sz="2000" b="1" dirty="0">
              <a:solidFill>
                <a:srgbClr val="2B2B2B"/>
              </a:solidFill>
              <a:latin typeface="Inter SemiBold"/>
              <a:ea typeface="Inter SemiBold"/>
              <a:cs typeface="Inter SemiBold"/>
            </a:endParaRP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solidFill>
                  <a:srgbClr val="2B2B2B"/>
                </a:solidFill>
              </a:defRPr>
            </a:pPr>
            <a:r>
              <a:rPr lang="th-TH" sz="2000" dirty="0">
                <a:solidFill>
                  <a:srgbClr val="2B2B2B"/>
                </a:solidFill>
                <a:latin typeface="Inter"/>
                <a:ea typeface="Inter"/>
                <a:cs typeface="Inter"/>
              </a:rPr>
              <a:t>ค่าใช้จ่ายในโครงการย่อย</a:t>
            </a:r>
            <a:endParaRPr sz="2000" b="0" i="0" u="none" cap="none" spc="0" dirty="0">
              <a:ln>
                <a:noFill/>
              </a:ln>
              <a:solidFill>
                <a:srgbClr val="2B2B2B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noGrp="1"/>
          </p:cNvSpPr>
          <p:nvPr/>
        </p:nvSpPr>
        <p:spPr>
          <a:xfrm>
            <a:off x="393700" y="2763754"/>
            <a:ext cx="2392712" cy="15786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E91E63"/>
                </a:solidFill>
              </a:defRPr>
            </a:pPr>
            <a:r>
              <a:rPr sz="2000" b="1" dirty="0">
                <a:solidFill>
                  <a:srgbClr val="E91E63"/>
                </a:solidFill>
                <a:latin typeface="Inter SemiBold"/>
                <a:ea typeface="Inter SemiBold"/>
                <a:cs typeface="Inter SemiBold"/>
              </a:rPr>
              <a:t>01 · BUDGET</a:t>
            </a: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noGrp="1"/>
          </p:cNvSpPr>
          <p:nvPr/>
        </p:nvSpPr>
        <p:spPr>
          <a:xfrm>
            <a:off x="4294187" y="2763754"/>
            <a:ext cx="2392712" cy="15786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E91E63"/>
                </a:solidFill>
              </a:defRPr>
            </a:pPr>
            <a:r>
              <a:rPr sz="2000" b="1">
                <a:solidFill>
                  <a:srgbClr val="E91E63"/>
                </a:solidFill>
                <a:latin typeface="Inter SemiBold"/>
                <a:ea typeface="Inter SemiBold"/>
                <a:cs typeface="Inter SemiBold"/>
              </a:rPr>
              <a:t>02 · FUNDING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noGrp="1"/>
          </p:cNvSpPr>
          <p:nvPr/>
        </p:nvSpPr>
        <p:spPr>
          <a:xfrm>
            <a:off x="8223249" y="2763754"/>
            <a:ext cx="2392712" cy="15786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E91E63"/>
                </a:solidFill>
              </a:defRPr>
            </a:pPr>
            <a:r>
              <a:rPr sz="2000" b="1">
                <a:solidFill>
                  <a:srgbClr val="E91E63"/>
                </a:solidFill>
                <a:latin typeface="Inter SemiBold"/>
                <a:ea typeface="Inter SemiBold"/>
                <a:cs typeface="Inter SemiBold"/>
              </a:rPr>
              <a:t>03 · OWNERSHIP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noGrp="1"/>
          </p:cNvSpPr>
          <p:nvPr/>
        </p:nvSpPr>
        <p:spPr>
          <a:xfrm>
            <a:off x="393668" y="2141654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CE4EC"/>
          </a:solidFill>
          <a:ln w="9525">
            <a:solidFill>
              <a:srgbClr val="F8BBD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noGrp="1"/>
          </p:cNvSpPr>
          <p:nvPr/>
        </p:nvSpPr>
        <p:spPr>
          <a:xfrm>
            <a:off x="4311618" y="2141654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CE4EC"/>
          </a:solidFill>
          <a:ln w="9525">
            <a:solidFill>
              <a:srgbClr val="F8BBD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defRPr>
                <a:solidFill>
                  <a:srgbClr val="6B7280"/>
                </a:solidFill>
              </a:defRPr>
            </a:pPr>
            <a:fld id="{EFD6AB9A-5F9E-5F59-51AB-3C8734130965}" type="slidenum">
              <a:rPr>
                <a:solidFill>
                  <a:srgbClr val="6B7280"/>
                </a:solidFill>
              </a:rPr>
              <a:t>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344043"/>
            <a:ext cx="11404568" cy="800100"/>
          </a:xfrm>
        </p:spPr>
        <p:txBody>
          <a:bodyPr/>
          <a:lstStyle/>
          <a:p>
            <a:pPr>
              <a:defRPr>
                <a:solidFill>
                  <a:srgbClr val="E91E63"/>
                </a:solidFill>
              </a:defRPr>
            </a:pPr>
            <a:r>
              <a:rPr dirty="0" err="1">
                <a:solidFill>
                  <a:srgbClr val="E91E63"/>
                </a:solidFill>
              </a:rPr>
              <a:t>ภาพรวมเงินทุนและกรอบงบปีที่</a:t>
            </a:r>
            <a:r>
              <a:rPr dirty="0">
                <a:solidFill>
                  <a:srgbClr val="E91E63"/>
                </a:solidFill>
              </a:rPr>
              <a:t> 1</a:t>
            </a:r>
            <a:endParaRPr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381" y="4019666"/>
            <a:ext cx="2949575" cy="1093787"/>
          </a:xfrm>
        </p:spPr>
        <p:txBody>
          <a:bodyPr>
            <a:normAutofit fontScale="96510"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solidFill>
                  <a:srgbClr val="2B2B2B"/>
                </a:solidFill>
              </a:defRPr>
            </a:pPr>
            <a:r>
              <a:rPr sz="1600" b="0" i="0" u="none" cap="none" spc="0" dirty="0" err="1">
                <a:ln>
                  <a:noFill/>
                </a:ln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  <a:t>เงินที่ได้รับ</a:t>
            </a:r>
            <a:r>
              <a:rPr lang="th-TH" sz="1600" dirty="0"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  <a:t> </a:t>
            </a:r>
            <a:br>
              <a:rPr lang="th-TH" sz="1600" dirty="0"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</a:br>
            <a:r>
              <a:rPr lang="en-US" sz="1600" dirty="0"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  <a:t>1. 400,000</a:t>
            </a:r>
            <a:r>
              <a:rPr lang="th-TH" sz="1600" dirty="0"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1600" dirty="0"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  <a:t>TOR 1 : Presented</a:t>
            </a:r>
            <a:br>
              <a:rPr lang="en-US" sz="1600" b="0" i="0" u="none" cap="none" spc="0" dirty="0">
                <a:ln>
                  <a:noFill/>
                </a:ln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</a:br>
            <a:r>
              <a:rPr lang="en-US" sz="1600" b="0" i="0" u="none" cap="none" spc="0" dirty="0">
                <a:ln>
                  <a:noFill/>
                </a:ln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  <a:t>2. 100,000 TOR 2</a:t>
            </a:r>
            <a:br>
              <a:rPr lang="en-US" sz="1600" b="0" i="0" u="none" cap="none" spc="0" dirty="0">
                <a:ln>
                  <a:noFill/>
                </a:ln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</a:br>
            <a:r>
              <a:rPr lang="en-US" sz="1600" b="0" i="0" u="none" cap="none" spc="0" dirty="0">
                <a:ln>
                  <a:noFill/>
                </a:ln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  <a:t>3. 100,000 TOR 3</a:t>
            </a:r>
            <a:endParaRPr sz="1600" b="0" i="0" u="none" cap="none" spc="0" dirty="0">
              <a:ln>
                <a:noFill/>
              </a:ln>
              <a:solidFill>
                <a:srgbClr val="2B2B2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21179" y="4019667"/>
            <a:ext cx="2949575" cy="819150"/>
          </a:xfrm>
        </p:spPr>
        <p:txBody>
          <a:bodyPr>
            <a:normAutofit fontScale="96510"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solidFill>
                  <a:srgbClr val="2B2B2B"/>
                </a:solidFill>
              </a:defRPr>
            </a:pPr>
            <a:r>
              <a:rPr lang="th-TH" sz="1600" dirty="0"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  <a:t>กรอบรวม </a:t>
            </a:r>
            <a:r>
              <a:rPr lang="en-US" sz="1600" dirty="0">
                <a:solidFill>
                  <a:srgbClr val="2B2B2B"/>
                </a:solidFill>
                <a:latin typeface="Helvetica Neue"/>
                <a:ea typeface="Helvetica Neue"/>
                <a:cs typeface="Helvetica Neue"/>
              </a:rPr>
              <a:t>Software / Hardware</a:t>
            </a:r>
            <a:endParaRPr sz="1600" b="0" i="0" u="none" cap="none" spc="0" dirty="0">
              <a:ln>
                <a:noFill/>
              </a:ln>
              <a:solidFill>
                <a:srgbClr val="2B2B2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noGrp="1"/>
          </p:cNvSpPr>
          <p:nvPr/>
        </p:nvSpPr>
        <p:spPr>
          <a:xfrm>
            <a:off x="702381" y="2548054"/>
            <a:ext cx="2940124" cy="1359356"/>
          </a:xfrm>
          <a:prstGeom prst="rect">
            <a:avLst/>
          </a:prstGeom>
        </p:spPr>
        <p:txBody>
          <a:bodyPr vert="horz" lIns="0" tIns="0" rIns="0" bIns="0" anchor="b">
            <a:normAutofit fontScale="65420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>
                <a:solidFill>
                  <a:srgbClr val="E91E63"/>
                </a:solidFill>
              </a:defRPr>
            </a:pPr>
            <a:r>
              <a:rPr sz="7000" b="0" i="0" u="none" cap="none" spc="0" dirty="0">
                <a:ln>
                  <a:noFill/>
                </a:ln>
                <a:solidFill>
                  <a:srgbClr val="E91E63"/>
                </a:solidFill>
                <a:latin typeface="Helvetica Neue"/>
                <a:ea typeface="Helvetica Neue"/>
                <a:cs typeface="Helvetica Neue"/>
              </a:rPr>
              <a:t>600,000</a:t>
            </a:r>
            <a:endParaRPr sz="7000" dirty="0">
              <a:solidFill>
                <a:srgbClr val="BCEF59"/>
              </a:solidFill>
            </a:endParaRPr>
          </a:p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>
                <a:solidFill>
                  <a:srgbClr val="E91E63"/>
                </a:solidFill>
              </a:defRPr>
            </a:pPr>
            <a:r>
              <a:rPr sz="7000" b="0" i="0" u="none" cap="none" spc="0" dirty="0" err="1">
                <a:ln>
                  <a:noFill/>
                </a:ln>
                <a:solidFill>
                  <a:srgbClr val="E91E63"/>
                </a:solidFill>
                <a:latin typeface="Helvetica Neue"/>
                <a:ea typeface="Helvetica Neue"/>
                <a:cs typeface="Helvetica Neue"/>
              </a:rPr>
              <a:t>บาท</a:t>
            </a:r>
            <a:endParaRPr sz="7000" dirty="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noGrp="1"/>
          </p:cNvSpPr>
          <p:nvPr/>
        </p:nvSpPr>
        <p:spPr>
          <a:xfrm>
            <a:off x="4612900" y="2548054"/>
            <a:ext cx="2940124" cy="1359356"/>
          </a:xfrm>
          <a:prstGeom prst="rect">
            <a:avLst/>
          </a:prstGeom>
        </p:spPr>
        <p:txBody>
          <a:bodyPr vert="horz" lIns="0" tIns="0" rIns="0" bIns="0" anchor="b">
            <a:normAutofit fontScale="65420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>
                <a:solidFill>
                  <a:srgbClr val="E91E63"/>
                </a:solidFill>
              </a:defRPr>
            </a:pPr>
            <a:r>
              <a:rPr sz="7000" b="0" i="0" u="none" cap="none" spc="0">
                <a:ln>
                  <a:noFill/>
                </a:ln>
                <a:solidFill>
                  <a:srgbClr val="E91E63"/>
                </a:solidFill>
                <a:latin typeface="Helvetica Neue"/>
                <a:ea typeface="Helvetica Neue"/>
                <a:cs typeface="Helvetica Neue"/>
              </a:rPr>
              <a:t>300,000</a:t>
            </a:r>
            <a:endParaRPr sz="7000">
              <a:solidFill>
                <a:srgbClr val="BCEF59"/>
              </a:solidFill>
            </a:endParaRPr>
          </a:p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>
                <a:solidFill>
                  <a:srgbClr val="E91E63"/>
                </a:solidFill>
              </a:defRPr>
            </a:pPr>
            <a:r>
              <a:rPr sz="7000" b="0" i="0" u="none" cap="none" spc="0">
                <a:ln>
                  <a:noFill/>
                </a:ln>
                <a:solidFill>
                  <a:srgbClr val="E91E63"/>
                </a:solidFill>
                <a:latin typeface="Helvetica Neue"/>
                <a:ea typeface="Helvetica Neue"/>
                <a:cs typeface="Helvetica Neue"/>
              </a:rPr>
              <a:t>บาท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noGrp="1"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rgbClr val="2B2B2B"/>
                </a:solidFill>
              </a:defRPr>
            </a:pPr>
            <a:r>
              <a:rPr sz="1800" dirty="0" err="1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กทปส</a:t>
            </a:r>
            <a:r>
              <a:rPr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.</a:t>
            </a:r>
            <a:r>
              <a:rPr lang="en-US"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lang="th-TH"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งบประมาณจ้างเหมารวม</a:t>
            </a:r>
            <a:r>
              <a:rPr lang="th-TH" sz="1800" dirty="0" err="1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ป</a:t>
            </a:r>
            <a:r>
              <a:rPr lang="th-TH"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ที่ </a:t>
            </a:r>
            <a:r>
              <a:rPr lang="en-US"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1 :</a:t>
            </a:r>
            <a:r>
              <a:rPr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 600,000 </a:t>
            </a:r>
            <a:r>
              <a:rPr sz="1800" dirty="0" err="1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บาท</a:t>
            </a:r>
            <a:r>
              <a:rPr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endParaRPr lang="en-US" sz="1800" dirty="0">
              <a:solidFill>
                <a:srgbClr val="2B2B2B"/>
              </a:solidFill>
              <a:latin typeface="Helvetica Neue Medium"/>
              <a:ea typeface="Helvetica Neue Medium"/>
              <a:cs typeface="Helvetica Neue Medium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rgbClr val="2B2B2B"/>
                </a:solidFill>
              </a:defRPr>
            </a:pPr>
            <a:r>
              <a:rPr sz="1800" dirty="0" err="1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กรอบโครงการย่อย</a:t>
            </a:r>
            <a:r>
              <a:rPr lang="th-TH"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รวม</a:t>
            </a:r>
            <a:r>
              <a:rPr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 Fall Risk 300,000 </a:t>
            </a:r>
            <a:r>
              <a:rPr sz="1800" dirty="0" err="1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บาท</a:t>
            </a:r>
            <a:r>
              <a:rPr sz="1800" dirty="0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srgbClr val="2B2B2B"/>
                </a:solidFill>
                <a:latin typeface="Helvetica Neue Medium"/>
                <a:ea typeface="Helvetica Neue Medium"/>
                <a:cs typeface="Helvetica Neue Medium"/>
              </a:rPr>
              <a:t>จึงต้องยืนยันการจัดสรรส่วนต่างให้ชัดเจน</a:t>
            </a:r>
            <a:endParaRPr sz="1800" dirty="0">
              <a:solidFill>
                <a:srgbClr val="2B2B2B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188" y="6278563"/>
            <a:ext cx="519112" cy="241300"/>
          </a:xfrm>
        </p:spPr>
        <p:txBody>
          <a:bodyPr/>
          <a:lstStyle/>
          <a:p>
            <a:fld id="{00000000-1234-1234-1234-123412341234}" type="slidenum">
              <a:rPr/>
              <a:t>5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2165016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E91E63"/>
                </a:solidFill>
              </a:defRPr>
            </a:pPr>
            <a:r>
              <a:rPr dirty="0" err="1">
                <a:solidFill>
                  <a:srgbClr val="E91E63"/>
                </a:solidFill>
              </a:rPr>
              <a:t>งบโครงการย่อยปีที่</a:t>
            </a:r>
            <a:r>
              <a:rPr dirty="0">
                <a:solidFill>
                  <a:srgbClr val="E91E63"/>
                </a:solidFill>
              </a:rPr>
              <a:t> 1: 300,000 </a:t>
            </a:r>
            <a:r>
              <a:rPr dirty="0" err="1">
                <a:solidFill>
                  <a:srgbClr val="E91E63"/>
                </a:solidFill>
              </a:rPr>
              <a:t>บาท</a:t>
            </a:r>
            <a:r>
              <a:rPr dirty="0">
                <a:solidFill>
                  <a:srgbClr val="E91E63"/>
                </a:solidFill>
              </a:rPr>
              <a:t>  </a:t>
            </a:r>
            <a:br>
              <a:rPr lang="en-US" dirty="0">
                <a:solidFill>
                  <a:srgbClr val="E91E63"/>
                </a:solidFill>
              </a:rPr>
            </a:br>
            <a:r>
              <a:rPr dirty="0">
                <a:solidFill>
                  <a:srgbClr val="E91E63"/>
                </a:solidFill>
              </a:rPr>
              <a:t> </a:t>
            </a:r>
            <a:r>
              <a:rPr lang="en-US" dirty="0">
                <a:solidFill>
                  <a:srgbClr val="E91E63"/>
                </a:solidFill>
              </a:rPr>
              <a:t>1. </a:t>
            </a:r>
            <a:r>
              <a:rPr dirty="0">
                <a:solidFill>
                  <a:srgbClr val="E91E63"/>
                </a:solidFill>
              </a:rPr>
              <a:t>Hardware/IoT 200,000 </a:t>
            </a:r>
            <a:br>
              <a:rPr lang="en-US" dirty="0">
                <a:solidFill>
                  <a:srgbClr val="E91E63"/>
                </a:solidFill>
              </a:rPr>
            </a:br>
            <a:r>
              <a:rPr lang="en-US" dirty="0">
                <a:solidFill>
                  <a:srgbClr val="E91E63"/>
                </a:solidFill>
              </a:rPr>
              <a:t> 2. </a:t>
            </a:r>
            <a:r>
              <a:rPr dirty="0">
                <a:solidFill>
                  <a:srgbClr val="E91E63"/>
                </a:solidFill>
              </a:rPr>
              <a:t>Software 100,000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/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>
                <a:solidFill>
                  <a:srgbClr val="2B2B2B"/>
                </a:solidFill>
              </a:defRPr>
            </a:pPr>
            <a:r>
              <a:rPr dirty="0" err="1">
                <a:solidFill>
                  <a:srgbClr val="2B2B2B"/>
                </a:solidFill>
              </a:rPr>
              <a:t>กล้อง</a:t>
            </a:r>
            <a:r>
              <a:rPr dirty="0">
                <a:solidFill>
                  <a:srgbClr val="2B2B2B"/>
                </a:solidFill>
              </a:rPr>
              <a:t> AI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solidFill>
                  <a:srgbClr val="2B2B2B"/>
                </a:solidFill>
              </a:defRPr>
            </a:pPr>
            <a:r>
              <a:rPr sz="1800" b="0" i="0" u="none" cap="none" spc="0" dirty="0">
                <a:ln>
                  <a:noFill/>
                </a:ln>
                <a:solidFill>
                  <a:srgbClr val="2B2B2B"/>
                </a:solidFill>
              </a:rPr>
              <a:t>3 </a:t>
            </a:r>
            <a:r>
              <a:rPr sz="18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เครื่อง</a:t>
            </a:r>
            <a:r>
              <a:rPr sz="1800" b="0" i="0" u="none" cap="none" spc="0" dirty="0">
                <a:ln>
                  <a:noFill/>
                </a:ln>
                <a:solidFill>
                  <a:srgbClr val="2B2B2B"/>
                </a:solidFill>
              </a:rPr>
              <a:t> · 60,000 </a:t>
            </a:r>
            <a:r>
              <a:rPr sz="18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บาท</a:t>
            </a:r>
            <a:endParaRPr lang="en-US" sz="1800" b="0" i="0" u="none" cap="none" spc="0" dirty="0">
              <a:ln>
                <a:noFill/>
              </a:ln>
              <a:solidFill>
                <a:srgbClr val="2B2B2B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solidFill>
                  <a:srgbClr val="2B2B2B"/>
                </a:solidFill>
              </a:defRPr>
            </a:pPr>
            <a:r>
              <a:rPr lang="th-TH" sz="1800" b="0" i="0" u="none" cap="none" spc="0" dirty="0">
                <a:ln>
                  <a:noFill/>
                </a:ln>
                <a:solidFill>
                  <a:srgbClr val="2B2B2B"/>
                </a:solidFill>
              </a:rPr>
              <a:t>เครื่องแรก </a:t>
            </a:r>
            <a:r>
              <a:rPr lang="en-US" sz="1800" b="0" i="0" u="none" cap="none" spc="0" dirty="0">
                <a:ln>
                  <a:noFill/>
                </a:ln>
                <a:solidFill>
                  <a:srgbClr val="2B2B2B"/>
                </a:solidFill>
              </a:rPr>
              <a:t>: </a:t>
            </a:r>
            <a:r>
              <a:rPr lang="en-US" sz="1800" dirty="0">
                <a:solidFill>
                  <a:srgbClr val="2B2B2B"/>
                </a:solidFill>
              </a:rPr>
              <a:t>40,000 </a:t>
            </a:r>
            <a:r>
              <a:rPr lang="th-TH" sz="1800" dirty="0">
                <a:solidFill>
                  <a:srgbClr val="2B2B2B"/>
                </a:solidFill>
              </a:rPr>
              <a:t>บาท เครื่องถัดมาเครื่องละ </a:t>
            </a:r>
            <a:r>
              <a:rPr lang="en-US" sz="1800" dirty="0">
                <a:solidFill>
                  <a:srgbClr val="2B2B2B"/>
                </a:solidFill>
              </a:rPr>
              <a:t>10,000</a:t>
            </a:r>
            <a:r>
              <a:rPr lang="th-TH" sz="1800" dirty="0">
                <a:solidFill>
                  <a:srgbClr val="2B2B2B"/>
                </a:solidFill>
              </a:rPr>
              <a:t> บาท</a:t>
            </a:r>
            <a:endParaRPr sz="1800" b="0" i="0" u="none" cap="none" spc="0" dirty="0">
              <a:ln>
                <a:noFill/>
              </a:ln>
              <a:solidFill>
                <a:srgbClr val="2B2B2B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/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>
                <a:solidFill>
                  <a:srgbClr val="2B2B2B"/>
                </a:solidFill>
              </a:defRPr>
            </a:pPr>
            <a:r>
              <a:rPr dirty="0">
                <a:solidFill>
                  <a:srgbClr val="2B2B2B"/>
                </a:solidFill>
              </a:rPr>
              <a:t>Pressure Mat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solidFill>
                  <a:srgbClr val="2B2B2B"/>
                </a:solidFill>
              </a:defRPr>
            </a:pPr>
            <a:r>
              <a:rPr sz="18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แผ่นแรงกดพื้น</a:t>
            </a:r>
            <a:r>
              <a:rPr sz="1800" b="0" i="0" u="none" cap="none" spc="0" dirty="0">
                <a:ln>
                  <a:noFill/>
                </a:ln>
                <a:solidFill>
                  <a:srgbClr val="2B2B2B"/>
                </a:solidFill>
              </a:rPr>
              <a:t> · 105,000 </a:t>
            </a:r>
            <a:r>
              <a:rPr sz="18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บาท</a:t>
            </a:r>
            <a:endParaRPr sz="1800" b="0" i="0" u="none" cap="none" spc="0" dirty="0">
              <a:ln>
                <a:noFill/>
              </a:ln>
              <a:solidFill>
                <a:srgbClr val="2B2B2B"/>
              </a:solidFill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noGrp="1"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2B2B2B"/>
                </a:solidFill>
              </a:defRPr>
            </a:pPr>
            <a:r>
              <a:rPr dirty="0">
                <a:solidFill>
                  <a:srgbClr val="2B2B2B"/>
                </a:solidFill>
              </a:rPr>
              <a:t>Pressure Insole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solidFill>
                  <a:srgbClr val="2B2B2B"/>
                </a:solidFill>
              </a:defRPr>
            </a:pPr>
            <a:r>
              <a:rPr sz="1800" dirty="0" err="1">
                <a:solidFill>
                  <a:srgbClr val="2B2B2B"/>
                </a:solidFill>
              </a:rPr>
              <a:t>ซ้าย</a:t>
            </a:r>
            <a:r>
              <a:rPr sz="1800" dirty="0">
                <a:solidFill>
                  <a:srgbClr val="2B2B2B"/>
                </a:solidFill>
              </a:rPr>
              <a:t>–</a:t>
            </a:r>
            <a:r>
              <a:rPr sz="1800" dirty="0" err="1">
                <a:solidFill>
                  <a:srgbClr val="2B2B2B"/>
                </a:solidFill>
              </a:rPr>
              <a:t>ขวา</a:t>
            </a:r>
            <a:r>
              <a:rPr sz="1800" dirty="0">
                <a:solidFill>
                  <a:srgbClr val="2B2B2B"/>
                </a:solidFill>
              </a:rPr>
              <a:t> · 35,000 </a:t>
            </a:r>
            <a:r>
              <a:rPr sz="1800" dirty="0" err="1">
                <a:solidFill>
                  <a:srgbClr val="2B2B2B"/>
                </a:solidFill>
              </a:rPr>
              <a:t>บาท</a:t>
            </a:r>
            <a:endParaRPr sz="1800" dirty="0">
              <a:solidFill>
                <a:srgbClr val="2B2B2B"/>
              </a:solidFill>
            </a:endParaRP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noGrp="1"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2B2B2B"/>
                </a:solidFill>
              </a:defRPr>
            </a:pPr>
            <a:r>
              <a:rPr dirty="0">
                <a:solidFill>
                  <a:srgbClr val="2B2B2B"/>
                </a:solidFill>
              </a:rPr>
              <a:t>Software V1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solidFill>
                  <a:srgbClr val="2B2B2B"/>
                </a:solidFill>
              </a:defRPr>
            </a:pPr>
            <a:r>
              <a:rPr sz="1800" dirty="0" err="1">
                <a:solidFill>
                  <a:srgbClr val="2B2B2B"/>
                </a:solidFill>
              </a:rPr>
              <a:t>แพลตฟอร์มและการวิเคราะห์</a:t>
            </a:r>
            <a:r>
              <a:rPr sz="1800" dirty="0">
                <a:solidFill>
                  <a:srgbClr val="2B2B2B"/>
                </a:solidFill>
              </a:rPr>
              <a:t> · 100,000 </a:t>
            </a:r>
            <a:r>
              <a:rPr sz="1800" dirty="0" err="1">
                <a:solidFill>
                  <a:srgbClr val="2B2B2B"/>
                </a:solidFill>
              </a:rPr>
              <a:t>บาท</a:t>
            </a:r>
            <a:endParaRPr sz="1800" dirty="0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6B7280"/>
                </a:solidFill>
              </a:defRPr>
            </a:pPr>
            <a:fld id="{8C630A04-5A25-9E0C-9436-126091DB86B3}" type="slidenum">
              <a:rPr>
                <a:solidFill>
                  <a:srgbClr val="6B7280"/>
                </a:solidFill>
              </a:rPr>
              <a:t>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92557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solidFill>
                  <a:srgbClr val="E91E63"/>
                </a:solidFill>
              </a:defRPr>
            </a:pPr>
            <a:r>
              <a:rPr>
                <a:solidFill>
                  <a:srgbClr val="E91E63"/>
                </a:solidFill>
              </a:rPr>
              <a:t>Roadmap การส่งมอบ ปีที่ 1 · 15 งวด</a:t>
            </a:r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="393699" y="1245705"/>
          <a:ext cx="11404600" cy="4722192"/>
        </p:xfrm>
        <a:graphic>
          <a:graphicData uri="http://schemas.openxmlformats.org/drawingml/2006/table">
            <a:tbl>
              <a:tblPr/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2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</a:rPr>
                        <a:t>เดือน 1–2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</a:rPr>
                        <a:t>เดือน 3–4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</a:rPr>
                        <a:t>เดือน 5–6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</a:rPr>
                        <a:t>เดือน 7–8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</a:rPr>
                        <a:t>เดือน 9–12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E91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noGrp="1"/>
          </p:cNvSpPr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50000"/>
            </a:avLst>
          </a:prstGeom>
          <a:solidFill>
            <a:srgbClr val="E91E63"/>
          </a:solidFill>
          <a:ln w="9525">
            <a:solidFill>
              <a:srgbClr val="F8BBD0"/>
            </a:solidFill>
            <a:prstDash val="solid"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Software V1 · เดือน 1–12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noGrp="1"/>
          </p:cNvSpPr>
          <p:nvPr/>
        </p:nvSpPr>
        <p:spPr>
          <a:xfrm>
            <a:off x="512108" y="5664722"/>
            <a:ext cx="11026708" cy="5133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 w="9525">
            <a:solidFill>
              <a:srgbClr val="F8BBD0"/>
            </a:solidFill>
            <a:prstDash val="solid"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pPr>
              <a:defRPr>
                <a:solidFill>
                  <a:srgbClr val="2B2B2B"/>
                </a:solidFill>
              </a:defRPr>
            </a:pPr>
            <a:r>
              <a:rPr sz="1500" b="1">
                <a:solidFill>
                  <a:srgbClr val="2B2B2B"/>
                </a:solidFill>
                <a:latin typeface="Inter SemiBold"/>
                <a:ea typeface="Inter SemiBold"/>
                <a:cs typeface="Inter SemiBold"/>
              </a:rPr>
              <a:t>ติดตั้ง · เอกสาร · ส่งมอบ</a:t>
            </a:r>
            <a:endParaRPr sz="1500" b="1"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noGrp="1"/>
          </p:cNvSpPr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 w="9525">
            <a:solidFill>
              <a:srgbClr val="F8BBD0"/>
            </a:solidFill>
            <a:prstDash val="solid"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pPr>
              <a:defRPr>
                <a:solidFill>
                  <a:srgbClr val="2B2B2B"/>
                </a:solidFill>
              </a:defRPr>
            </a:pPr>
            <a:r>
              <a:rPr sz="1500" b="1">
                <a:solidFill>
                  <a:srgbClr val="2B2B2B"/>
                </a:solidFill>
                <a:latin typeface="Inter SemiBold"/>
                <a:ea typeface="Inter SemiBold"/>
                <a:cs typeface="Inter SemiBold"/>
              </a:rPr>
              <a:t>Integration และระบบรวม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noGrp="1"/>
          </p:cNvSpPr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 w="9525">
            <a:solidFill>
              <a:srgbClr val="F8BBD0"/>
            </a:solidFill>
            <a:prstDash val="solid"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pPr>
              <a:defRPr>
                <a:solidFill>
                  <a:srgbClr val="2B2B2B"/>
                </a:solidFill>
              </a:defRPr>
            </a:pPr>
            <a:r>
              <a:rPr sz="1500" b="1">
                <a:solidFill>
                  <a:srgbClr val="2B2B2B"/>
                </a:solidFill>
                <a:latin typeface="Inter SemiBold"/>
                <a:ea typeface="Inter SemiBold"/>
                <a:cs typeface="Inter SemiBold"/>
              </a:rPr>
              <a:t>Pressure Insole · เดือน 1–5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noGrp="1"/>
          </p:cNvSpPr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 w="9525">
            <a:solidFill>
              <a:srgbClr val="F8BBD0"/>
            </a:solidFill>
            <a:prstDash val="solid"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pPr>
              <a:defRPr>
                <a:solidFill>
                  <a:srgbClr val="2B2B2B"/>
                </a:solidFill>
              </a:defRPr>
            </a:pPr>
            <a:r>
              <a:rPr sz="1500" b="1">
                <a:solidFill>
                  <a:srgbClr val="2B2B2B"/>
                </a:solidFill>
                <a:latin typeface="Inter SemiBold"/>
                <a:ea typeface="Inter SemiBold"/>
                <a:cs typeface="Inter SemiBold"/>
              </a:rPr>
              <a:t>Pressure Mat · เดือน 1–6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noGrp="1"/>
          </p:cNvSpPr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 w="9525">
            <a:solidFill>
              <a:srgbClr val="F8BBD0"/>
            </a:solidFill>
            <a:prstDash val="solid"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pPr>
              <a:defRPr>
                <a:solidFill>
                  <a:srgbClr val="2B2B2B"/>
                </a:solidFill>
              </a:defRPr>
            </a:pPr>
            <a:r>
              <a:rPr sz="1500" b="1">
                <a:solidFill>
                  <a:srgbClr val="2B2B2B"/>
                </a:solidFill>
                <a:latin typeface="Inter SemiBold"/>
                <a:ea typeface="Inter SemiBold"/>
                <a:cs typeface="Inter SemiBold"/>
              </a:rPr>
              <a:t>กล้อง AI · เดือน 1–4</a:t>
            </a:r>
            <a:endParaRPr sz="15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6B7280"/>
                </a:solidFill>
              </a:defRPr>
            </a:pPr>
            <a:fld id="{D3D7D1C8-AE23-AA48-DF65-C742588DBE47}" type="slidenum">
              <a:rPr>
                <a:solidFill>
                  <a:srgbClr val="6B7280"/>
                </a:solidFill>
              </a:rPr>
              <a:t>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solidFill>
                  <a:srgbClr val="E91E63"/>
                </a:solidFill>
              </a:defRPr>
            </a:pPr>
            <a:r>
              <a:rPr>
                <a:solidFill>
                  <a:srgbClr val="E91E63"/>
                </a:solidFill>
              </a:rPr>
              <a:t>บทบาทและเงื่อนไขที่ต้องยืนยัน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0388" y="179792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E91E63"/>
                </a:solidFill>
              </a:defRPr>
            </a:pPr>
            <a:r>
              <a:rPr>
                <a:solidFill>
                  <a:srgbClr val="E91E63"/>
                </a:solidFill>
              </a:rPr>
              <a:t>เจ้าภาพงานและเงื่อนไขการส่งมอบ</a:t>
            </a: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390388" y="3065806"/>
            <a:ext cx="4774279" cy="2769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solidFill>
                  <a:srgbClr val="2B2B2B"/>
                </a:solidFill>
              </a:defRPr>
            </a:pPr>
            <a:r>
              <a:rPr sz="1700" b="0" i="0" u="none" cap="none" spc="0" dirty="0">
                <a:ln>
                  <a:noFill/>
                </a:ln>
                <a:solidFill>
                  <a:srgbClr val="2B2B2B"/>
                </a:solidFill>
              </a:rPr>
              <a:t>Software — Lab </a:t>
            </a:r>
            <a:r>
              <a:rPr sz="17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อ.สมฤดี</a:t>
            </a:r>
            <a:endParaRPr sz="1700" b="0" i="0" u="none" kern="1200" cap="none" spc="0" baseline="0" dirty="0">
              <a:ln>
                <a:noFill/>
              </a:ln>
            </a:endParaRP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solidFill>
                  <a:srgbClr val="2B2B2B"/>
                </a:solidFill>
              </a:defRPr>
            </a:pPr>
            <a:r>
              <a:rPr sz="17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รับผิดชอบ</a:t>
            </a:r>
            <a:r>
              <a:rPr sz="1700" b="0" i="0" u="none" cap="none" spc="0" dirty="0">
                <a:ln>
                  <a:noFill/>
                </a:ln>
                <a:solidFill>
                  <a:srgbClr val="2B2B2B"/>
                </a:solidFill>
              </a:rPr>
              <a:t> system architecture, data contract, database, backend/API, frontend/dashboard, data analysis, deployment </a:t>
            </a:r>
            <a:r>
              <a:rPr sz="17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และเอกสารซอฟต์แวร์</a:t>
            </a:r>
            <a:endParaRPr sz="1700" b="0" i="0" u="none" kern="1200" cap="none" spc="0" baseline="0" dirty="0">
              <a:ln>
                <a:noFill/>
              </a:ln>
            </a:endParaRP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endParaRPr sz="1700" b="0" i="0" u="none" kern="1200" cap="none" spc="0" baseline="0" dirty="0">
              <a:ln>
                <a:noFill/>
              </a:ln>
            </a:endParaRP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solidFill>
                  <a:srgbClr val="2B2B2B"/>
                </a:solidFill>
              </a:defRPr>
            </a:pPr>
            <a:r>
              <a:rPr sz="1700" b="0" i="0" u="none" cap="none" spc="0" dirty="0">
                <a:ln>
                  <a:noFill/>
                </a:ln>
                <a:solidFill>
                  <a:srgbClr val="2B2B2B"/>
                </a:solidFill>
              </a:rPr>
              <a:t>Hardware — Lab </a:t>
            </a:r>
            <a:r>
              <a:rPr sz="17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อ.รัชทิน</a:t>
            </a:r>
            <a:endParaRPr sz="1700" b="0" i="0" u="none" kern="1200" cap="none" spc="0" baseline="0" dirty="0">
              <a:ln>
                <a:noFill/>
              </a:ln>
            </a:endParaRP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solidFill>
                  <a:srgbClr val="2B2B2B"/>
                </a:solidFill>
              </a:defRPr>
            </a:pPr>
            <a:r>
              <a:rPr sz="17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รับผิดชอบกล้อง</a:t>
            </a:r>
            <a:r>
              <a:rPr sz="1700" b="0" i="0" u="none" cap="none" spc="0" dirty="0">
                <a:ln>
                  <a:noFill/>
                </a:ln>
                <a:solidFill>
                  <a:srgbClr val="2B2B2B"/>
                </a:solidFill>
              </a:rPr>
              <a:t> </a:t>
            </a:r>
            <a:r>
              <a:rPr sz="17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ระบบไฟ</a:t>
            </a:r>
            <a:r>
              <a:rPr sz="1700" b="0" i="0" u="none" cap="none" spc="0" dirty="0">
                <a:ln>
                  <a:noFill/>
                </a:ln>
                <a:solidFill>
                  <a:srgbClr val="2B2B2B"/>
                </a:solidFill>
              </a:rPr>
              <a:t> Pressure Mat, Insole, calibration </a:t>
            </a:r>
            <a:r>
              <a:rPr sz="1700" b="0" i="0" u="none" cap="none" spc="0" dirty="0" err="1">
                <a:ln>
                  <a:noFill/>
                </a:ln>
                <a:solidFill>
                  <a:srgbClr val="2B2B2B"/>
                </a:solidFill>
              </a:rPr>
              <a:t>และการทดสอบทางกายภาพ</a:t>
            </a:r>
            <a:endParaRPr sz="1700" b="0" i="0" u="none" kern="1200" cap="none" spc="0" baseline="0" dirty="0">
              <a:ln>
                <a:noFill/>
              </a:ln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noGrp="1"/>
          </p:cNvSpPr>
          <p:nvPr/>
        </p:nvSpPr>
        <p:spPr>
          <a:xfrm>
            <a:off x="6264413" y="1722438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CE4EC"/>
          </a:solidFill>
          <a:ln w="9525">
            <a:solidFill>
              <a:srgbClr val="F8BBD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noGrp="1"/>
          </p:cNvSpPr>
          <p:nvPr/>
        </p:nvSpPr>
        <p:spPr>
          <a:xfrm>
            <a:off x="6561648" y="2017370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solidFill>
                  <a:srgbClr val="2B2B2B"/>
                </a:solidFill>
              </a:defRPr>
            </a:pPr>
            <a:r>
              <a:rPr sz="1800">
                <a:solidFill>
                  <a:srgbClr val="2B2B2B"/>
                </a:solidFill>
              </a:rPr>
              <a:t>Embedded / IoT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solidFill>
                  <a:srgbClr val="2B2B2B"/>
                </a:solidFill>
              </a:defRPr>
            </a:pPr>
            <a:r>
              <a:rPr sz="1800">
                <a:solidFill>
                  <a:srgbClr val="2B2B2B"/>
                </a:solidFill>
              </a:rPr>
              <a:t>ทั้งสอง Lab ร่วมกัน: firmware, device gateway, timestamp synchronization และ integration test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noGrp="1"/>
          </p:cNvSpPr>
          <p:nvPr/>
        </p:nvSpPr>
        <p:spPr>
          <a:xfrm>
            <a:off x="6264413" y="3734118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CE4EC"/>
          </a:solidFill>
          <a:ln w="9525">
            <a:solidFill>
              <a:srgbClr val="F8BBD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noGrp="1"/>
          </p:cNvSpPr>
          <p:nvPr/>
        </p:nvSpPr>
        <p:spPr>
          <a:xfrm>
            <a:off x="6561648" y="4029050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solidFill>
                  <a:srgbClr val="2B2B2B"/>
                </a:solidFill>
              </a:defRPr>
            </a:pPr>
            <a:r>
              <a:rPr sz="1800">
                <a:solidFill>
                  <a:srgbClr val="2B2B2B"/>
                </a:solidFill>
              </a:rPr>
              <a:t>เงื่อนไขก่อนเบิกจ่าย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solidFill>
                  <a:srgbClr val="2B2B2B"/>
                </a:solidFill>
              </a:defRPr>
            </a:pPr>
            <a:r>
              <a:rPr sz="1800">
                <a:solidFill>
                  <a:srgbClr val="2B2B2B"/>
                </a:solidFill>
              </a:rPr>
              <a:t>ยืนยันผู้รับผิดชอบ เกณฑ์ผ่าน และหลักฐานส่งมอบในแต่ละงวด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66174"/>
            <a:ext cx="9448800" cy="2203686"/>
          </a:xfrm>
        </p:spPr>
        <p:txBody>
          <a:bodyPr>
            <a:noAutofit/>
          </a:bodyPr>
          <a:lstStyle/>
          <a:p>
            <a:pPr algn="ctr">
              <a:buNone/>
              <a:defRPr>
                <a:solidFill>
                  <a:srgbClr val="E91E63"/>
                </a:solidFill>
              </a:defRPr>
            </a:pPr>
            <a:r>
              <a:rPr sz="7200">
                <a:solidFill>
                  <a:srgbClr val="E91E63"/>
                </a:solidFill>
              </a:rPr>
              <a:t>ข้อสรุป</a:t>
            </a:r>
          </a:p>
          <a:p>
            <a:pPr algn="ctr">
              <a:buNone/>
              <a:defRPr>
                <a:solidFill>
                  <a:srgbClr val="E91E63"/>
                </a:solidFill>
              </a:defRPr>
            </a:pPr>
            <a:r>
              <a:rPr sz="7200">
                <a:solidFill>
                  <a:srgbClr val="E91E63"/>
                </a:solidFill>
              </a:rPr>
              <a:t>ที่ต้องการจากที่ประชุม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noGrp="1"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>
                <a:solidFill>
                  <a:srgbClr val="2B2B2B"/>
                </a:solidFill>
              </a:defRPr>
            </a:pPr>
            <a:r>
              <a:rPr sz="2200">
                <a:solidFill>
                  <a:srgbClr val="2B2B2B"/>
                </a:solidFill>
                <a:latin typeface="Inter Medium"/>
                <a:ea typeface="Inter Medium"/>
                <a:cs typeface="Inter Medium"/>
              </a:rPr>
              <a:t>ยืนยันกรอบงบ 300,000 บาท · ระบุการจัดสรรส่วนต่าง · ล็อกเจ้าภาพและเกณฑ์ส่งมอบ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noGrp="1"/>
          </p:cNvSpPr>
          <p:nvPr/>
        </p:nvSpPr>
        <p:spPr>
          <a:xfrm>
            <a:off x="4793264" y="1096027"/>
            <a:ext cx="2604013" cy="488816"/>
          </a:xfrm>
          <a:prstGeom prst="roundRect">
            <a:avLst>
              <a:gd name="adj" fmla="val 50000"/>
            </a:avLst>
          </a:prstGeom>
          <a:solidFill>
            <a:srgbClr val="E91E63"/>
          </a:solidFill>
          <a:ln w="9525">
            <a:solidFill>
              <a:srgbClr val="E91E6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Year 1 · Fall Risk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773</Words>
  <Application>Microsoft Macintosh PowerPoint</Application>
  <DocSecurity>0</DocSecurity>
  <PresentationFormat>Widescreen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Helvetica Neue</vt:lpstr>
      <vt:lpstr>Inter SemiBold</vt:lpstr>
      <vt:lpstr>Inter Medium</vt:lpstr>
      <vt:lpstr>Inter</vt:lpstr>
      <vt:lpstr>Helvetica Neue Medium</vt:lpstr>
      <vt:lpstr>Default Codex Theme</vt:lpstr>
      <vt:lpstr>Fall Risk Budget Discussion</vt:lpstr>
      <vt:lpstr>วาระการหารืองบประมาณปีที่ 1</vt:lpstr>
      <vt:lpstr>ประเด็นที่ต้องยืนยันในการประชุม</vt:lpstr>
      <vt:lpstr>ภาพรวมเงินทุนและกรอบงบปีที่ 1</vt:lpstr>
      <vt:lpstr>งบโครงการย่อยปีที่ 1: 300,000 บาท    1. Hardware/IoT 200,000   2. Software 100,000</vt:lpstr>
      <vt:lpstr>Roadmap การส่งมอบ ปีที่ 1 · 15 งวด</vt:lpstr>
      <vt:lpstr>บทบาทและเงื่อนไขที่ต้องยืนยัน</vt:lpstr>
      <vt:lpstr>ข้อสรุป ที่ต้องการจากที่ประชุม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Naparat Sathirasattayanon</cp:lastModifiedBy>
  <cp:revision>3</cp:revision>
  <dcterms:created xsi:type="dcterms:W3CDTF">2026-08-20T02:29:57Z</dcterms:created>
  <dcterms:modified xsi:type="dcterms:W3CDTF">2026-08-20T09:04:30Z</dcterms:modified>
</cp:coreProperties>
</file>