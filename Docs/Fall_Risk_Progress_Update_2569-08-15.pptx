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8" r:id="rId4"/>
    <p:sldId id="263" r:id="rId5"/>
    <p:sldId id="264" r:id="rId6"/>
    <p:sldId id="257" r:id="rId7"/>
    <p:sldId id="268" r:id="rId8"/>
    <p:sldId id="259" r:id="rId9"/>
    <p:sldId id="260" r:id="rId10"/>
    <p:sldId id="266" r:id="rId11"/>
    <p:sldId id="265" r:id="rId12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73"/>
    <p:restoredTop sz="94571"/>
  </p:normalViewPr>
  <p:slideViewPr>
    <p:cSldViewPr snapToGrid="0">
      <p:cViewPr varScale="1">
        <p:scale>
          <a:sx n="115" d="100"/>
          <a:sy n="115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Software UI screenshot captured locally from omni-front-end/admin/dashboard on 2026-08-15.</a:t>
            </a:r>
          </a:p>
          <a:p>
            <a:r>
              <a:t>Source code: omni-front-end/src/admin/adminDashboard.jsx. Demo/mock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UI screenshots captured locally from omni-front-end routes /login, /admin/dashboard, /admin/live-assessment, and /patient/dashboard on 2026-08-15.</a:t>
            </a:r>
          </a:p>
          <a:p>
            <a:r>
              <a:t>Demo/mock data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TOR sequence: user-supplied TOR image.</a:t>
            </a:r>
          </a:p>
          <a:p>
            <a:r>
              <a:t>Project context: Docs/Fall_Risk_assessment_Progress1.md.</a:t>
            </a:r>
          </a:p>
          <a:p>
            <a:r>
              <a:t>No outcomes, accuracy figures, or completion percentages are asserted.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1ACDC9A-EAA2-4A6F-A518-F580CDE5A5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C58CDB-3DBD-4BC9-8CCE-532BE70000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005275-7002-4852-BAC1-93DB73F977CE}"/>
              </a:ext>
            </a:extLst>
          </p:cNvPr>
          <p:cNvSpPr>
            <a:spLocks noGrp="1"/>
          </p:cNvSpPr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AF469A-6326-42C6-8298-A5503C5A6F0F}"/>
              </a:ext>
            </a:extLst>
          </p:cNvPr>
          <p:cNvSpPr>
            <a:spLocks noGrp="1"/>
          </p:cNvSpPr>
          <p:nvPr/>
        </p:nvSpPr>
        <p:spPr>
          <a:xfrm>
            <a:off x="8810625" y="0"/>
            <a:ext cx="3381375" cy="3381375"/>
          </a:xfrm>
          <a:prstGeom prst="roundRect">
            <a:avLst>
              <a:gd name="adj" fmla="val 50000"/>
            </a:avLst>
          </a:prstGeom>
          <a:solidFill>
            <a:srgbClr val="F7D5E2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E1AA6D8-2921-4952-B329-75E8B2DEF03A}"/>
              </a:ext>
            </a:extLst>
          </p:cNvPr>
          <p:cNvSpPr>
            <a:spLocks noGrp="1"/>
          </p:cNvSpPr>
          <p:nvPr/>
        </p:nvSpPr>
        <p:spPr>
          <a:xfrm>
            <a:off x="9734550" y="3257550"/>
            <a:ext cx="1714500" cy="1714500"/>
          </a:xfrm>
          <a:prstGeom prst="roundRect">
            <a:avLst>
              <a:gd name="adj" fmla="val 50000"/>
            </a:avLst>
          </a:prstGeom>
          <a:solidFill>
            <a:srgbClr val="F2BED1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00875" y="1112307"/>
            <a:ext cx="4476750" cy="4004737"/>
          </a:xfrm>
          <a:prstGeom prst="roundRect">
            <a:avLst>
              <a:gd name="adj" fmla="val 3653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145D03-CC62-4D48-B461-3BC179FB8033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590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B74670"/>
                </a:solidFill>
              </a:defRPr>
            </a:pPr>
            <a:r>
              <a:rPr sz="1425" b="1" dirty="0" err="1">
                <a:solidFill>
                  <a:srgbClr val="B74670"/>
                </a:solidFill>
              </a:rPr>
              <a:t>รายงานความก้าวหน้า</a:t>
            </a:r>
            <a:endParaRPr sz="1425" b="1" dirty="0">
              <a:solidFill>
                <a:srgbClr val="B7467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2A4D7-F347-494D-9A88-067D27281446}"/>
              </a:ext>
            </a:extLst>
          </p:cNvPr>
          <p:cNvSpPr>
            <a:spLocks noGrp="1"/>
          </p:cNvSpPr>
          <p:nvPr/>
        </p:nvSpPr>
        <p:spPr>
          <a:xfrm>
            <a:off x="533400" y="2209800"/>
            <a:ext cx="5905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2D2428"/>
                </a:solidFill>
              </a:defRPr>
            </a:pPr>
            <a:r>
              <a:rPr sz="4050" b="1">
                <a:solidFill>
                  <a:srgbClr val="2D2428"/>
                </a:solidFill>
              </a:rPr>
              <a:t>ต้นแบบระบบประเมิน</a:t>
            </a:r>
          </a:p>
          <a:p>
            <a:pPr algn="l">
              <a:defRPr sz="4050" b="1">
                <a:solidFill>
                  <a:srgbClr val="2D2428"/>
                </a:solidFill>
              </a:defRPr>
            </a:pPr>
            <a:r>
              <a:rPr sz="4050" b="1">
                <a:solidFill>
                  <a:srgbClr val="2D2428"/>
                </a:solidFill>
              </a:rPr>
              <a:t>ความเสี่ยงหกล้ม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03CBF-5636-4A45-BC6F-154081D8233D}"/>
              </a:ext>
            </a:extLst>
          </p:cNvPr>
          <p:cNvSpPr>
            <a:spLocks noGrp="1"/>
          </p:cNvSpPr>
          <p:nvPr/>
        </p:nvSpPr>
        <p:spPr>
          <a:xfrm>
            <a:off x="533400" y="371475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786D72"/>
                </a:solidFill>
              </a:defRPr>
            </a:pPr>
            <a:r>
              <a:rPr b="0">
                <a:solidFill>
                  <a:srgbClr val="786D72"/>
                </a:solidFill>
              </a:rPr>
              <a:t>AI Camera Module และ Software UI Mockup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0640F1A-961C-4443-A3D5-EC9BFD89A6DC}"/>
              </a:ext>
            </a:extLst>
          </p:cNvPr>
          <p:cNvSpPr>
            <a:spLocks noGrp="1"/>
          </p:cNvSpPr>
          <p:nvPr/>
        </p:nvSpPr>
        <p:spPr>
          <a:xfrm>
            <a:off x="533400" y="4457700"/>
            <a:ext cx="1257300" cy="47625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33C456-62A8-4522-951F-64799C4B135D}"/>
              </a:ext>
            </a:extLst>
          </p:cNvPr>
          <p:cNvSpPr>
            <a:spLocks noGrp="1"/>
          </p:cNvSpPr>
          <p:nvPr/>
        </p:nvSpPr>
        <p:spPr>
          <a:xfrm>
            <a:off x="533400" y="4781550"/>
            <a:ext cx="552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2428"/>
                </a:solidFill>
              </a:defRPr>
            </a:pPr>
            <a:r>
              <a:rPr sz="2000" b="1" dirty="0" err="1">
                <a:solidFill>
                  <a:srgbClr val="2D2428"/>
                </a:solidFill>
              </a:rPr>
              <a:t>คณะแพทยศาสตร์</a:t>
            </a:r>
            <a:r>
              <a:rPr sz="2000" b="1" dirty="0">
                <a:solidFill>
                  <a:srgbClr val="2D2428"/>
                </a:solidFill>
              </a:rPr>
              <a:t> </a:t>
            </a:r>
            <a:r>
              <a:rPr sz="2000" b="1" dirty="0" err="1">
                <a:solidFill>
                  <a:srgbClr val="2D2428"/>
                </a:solidFill>
              </a:rPr>
              <a:t>จุฬาลงกรณ์มหาวิทยาลัย</a:t>
            </a:r>
            <a:endParaRPr sz="2000" b="1" dirty="0">
              <a:solidFill>
                <a:srgbClr val="2D2428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3FD3D-E7D9-4E6C-B312-F036CDA81277}"/>
              </a:ext>
            </a:extLst>
          </p:cNvPr>
          <p:cNvSpPr>
            <a:spLocks noGrp="1"/>
          </p:cNvSpPr>
          <p:nvPr/>
        </p:nvSpPr>
        <p:spPr>
          <a:xfrm>
            <a:off x="533400" y="5186362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786D72"/>
                </a:solidFill>
              </a:defRPr>
            </a:pPr>
            <a:r>
              <a:rPr sz="1600" b="0" dirty="0">
                <a:solidFill>
                  <a:srgbClr val="786D72"/>
                </a:solidFill>
              </a:rPr>
              <a:t>1</a:t>
            </a:r>
            <a:r>
              <a:rPr lang="en-US" sz="1600" b="0" dirty="0">
                <a:solidFill>
                  <a:srgbClr val="786D72"/>
                </a:solidFill>
              </a:rPr>
              <a:t>8</a:t>
            </a:r>
            <a:r>
              <a:rPr sz="1600" b="0" dirty="0">
                <a:solidFill>
                  <a:srgbClr val="786D72"/>
                </a:solidFill>
              </a:rPr>
              <a:t> </a:t>
            </a:r>
            <a:r>
              <a:rPr sz="1600" b="0" dirty="0" err="1">
                <a:solidFill>
                  <a:srgbClr val="786D72"/>
                </a:solidFill>
              </a:rPr>
              <a:t>สิงหาคม</a:t>
            </a:r>
            <a:r>
              <a:rPr sz="1600" b="0" dirty="0">
                <a:solidFill>
                  <a:srgbClr val="786D72"/>
                </a:solidFill>
              </a:rPr>
              <a:t> 2569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B9A331-CD19-4652-9511-9364298B6769}"/>
              </a:ext>
            </a:extLst>
          </p:cNvPr>
          <p:cNvSpPr>
            <a:spLocks noGrp="1"/>
          </p:cNvSpPr>
          <p:nvPr/>
        </p:nvSpPr>
        <p:spPr>
          <a:xfrm>
            <a:off x="7239000" y="552450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B74670"/>
                </a:solidFill>
              </a:defRPr>
            </a:pPr>
            <a:r>
              <a:rPr sz="1500" b="1" dirty="0">
                <a:solidFill>
                  <a:srgbClr val="B74670"/>
                </a:solidFill>
              </a:rPr>
              <a:t>AI CAMERA MODULE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2A086C-C103-419D-9B41-AC1D4E3FE08D}"/>
              </a:ext>
            </a:extLst>
          </p:cNvPr>
          <p:cNvSpPr>
            <a:spLocks noGrp="1"/>
          </p:cNvSpPr>
          <p:nvPr/>
        </p:nvSpPr>
        <p:spPr>
          <a:xfrm>
            <a:off x="7239000" y="57721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73E42"/>
                </a:solidFill>
              </a:defRPr>
            </a:pPr>
            <a:r>
              <a:rPr sz="1275" b="1" dirty="0" err="1">
                <a:solidFill>
                  <a:srgbClr val="473E42"/>
                </a:solidFill>
              </a:rPr>
              <a:t>พร้อมเข้าสู่การทดสอบหลังประกอบ</a:t>
            </a:r>
            <a:endParaRPr sz="1275" b="1" dirty="0">
              <a:solidFill>
                <a:srgbClr val="473E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1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75A66D-042A-89BF-2936-D5C6F12F1ACF}"/>
              </a:ext>
            </a:extLst>
          </p:cNvPr>
          <p:cNvSpPr>
            <a:spLocks noGrp="1"/>
          </p:cNvSpPr>
          <p:nvPr/>
        </p:nvSpPr>
        <p:spPr>
          <a:xfrm>
            <a:off x="2640516" y="680604"/>
            <a:ext cx="6910965" cy="457200"/>
          </a:xfrm>
          <a:prstGeom prst="roundRect">
            <a:avLst>
              <a:gd name="adj" fmla="val 29167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2" name="image1.png">
            <a:extLst>
              <a:ext uri="{FF2B5EF4-FFF2-40B4-BE49-F238E27FC236}">
                <a16:creationId xmlns:a16="http://schemas.microsoft.com/office/drawing/2014/main" id="{F606BFE3-FD7C-B255-F34E-4ADDC45D0CA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2348959" y="1268268"/>
            <a:ext cx="7494082" cy="4675332"/>
          </a:xfrm>
          <a:prstGeom prst="rect">
            <a:avLst/>
          </a:prstGeom>
          <a:ln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9E64BE-4724-F344-7C3B-CA8680670BE3}"/>
              </a:ext>
            </a:extLst>
          </p:cNvPr>
          <p:cNvSpPr>
            <a:spLocks noGrp="1"/>
          </p:cNvSpPr>
          <p:nvPr/>
        </p:nvSpPr>
        <p:spPr>
          <a:xfrm>
            <a:off x="952499" y="652029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th-TH" sz="3200" dirty="0">
                <a:ea typeface="TH Sarabun PSK"/>
                <a:cs typeface="TH Sarabun PSK"/>
              </a:rPr>
              <a:t>ภาพรวมของการพัฒนาต้นแบบการประเมินความเสี่ยงหกล้ม</a:t>
            </a:r>
            <a:endParaRPr lang="en-TH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44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A2F03C3-ADA1-4E92-87F6-3B8A7615AA83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74670"/>
                </a:solidFill>
              </a:defRPr>
            </a:pPr>
            <a:r>
              <a:rPr sz="975" b="1">
                <a:solidFill>
                  <a:srgbClr val="B74670"/>
                </a:solidFill>
              </a:rPr>
              <a:t>CURRENT FOCUS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45445-45E9-40B4-B3AF-16F6F80F2376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D2428"/>
                </a:solidFill>
              </a:defRPr>
            </a:pPr>
            <a:r>
              <a:rPr sz="2850" b="1">
                <a:solidFill>
                  <a:srgbClr val="2D2428"/>
                </a:solidFill>
              </a:rPr>
              <a:t>สองงานหลักกำลังขับเคลื่อนต้นแบบ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6439B-64F3-4A99-BD56-64644C674640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25FCCC-6245-4643-989C-308D5467B1BE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86D72"/>
                </a:solidFill>
              </a:defRPr>
            </a:pPr>
            <a:r>
              <a:rPr sz="825" b="0">
                <a:solidFill>
                  <a:srgbClr val="786D72"/>
                </a:solidFill>
              </a:rPr>
              <a:t>รายงานความก้าวหน้าต้นแบบระบบประเมินความเสี่ยงหกล้ม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E58FF-6AB3-4243-A07D-C6B6656F3311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0239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786D72"/>
                </a:solidFill>
              </a:defRPr>
            </a:pPr>
            <a:r>
              <a:rPr sz="1500" b="0" dirty="0" err="1">
                <a:solidFill>
                  <a:srgbClr val="786D72"/>
                </a:solidFill>
              </a:rPr>
              <a:t>ฮาร์ดแวร์และซอฟต์แวร์กำลังพัฒนาไปพร้อมกัน</a:t>
            </a:r>
            <a:r>
              <a:rPr sz="1500" b="0" dirty="0">
                <a:solidFill>
                  <a:srgbClr val="786D72"/>
                </a:solidFill>
              </a:rPr>
              <a:t> </a:t>
            </a:r>
            <a:r>
              <a:rPr sz="1500" b="0" dirty="0" err="1">
                <a:solidFill>
                  <a:srgbClr val="786D72"/>
                </a:solidFill>
              </a:rPr>
              <a:t>เพื่อเตรียมการทดสอบและเชื่อมระบบในระยะถัดไป</a:t>
            </a:r>
            <a:endParaRPr sz="1500" b="0" dirty="0">
              <a:solidFill>
                <a:srgbClr val="786D72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03470DA-8E27-49EA-B38F-20F4C0DDF38F}"/>
              </a:ext>
            </a:extLst>
          </p:cNvPr>
          <p:cNvSpPr>
            <a:spLocks noGrp="1"/>
          </p:cNvSpPr>
          <p:nvPr/>
        </p:nvSpPr>
        <p:spPr>
          <a:xfrm>
            <a:off x="533400" y="1981200"/>
            <a:ext cx="5257800" cy="33528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43BCB2-6E0E-46BA-9048-57F6431DBECD}"/>
              </a:ext>
            </a:extLst>
          </p:cNvPr>
          <p:cNvSpPr>
            <a:spLocks noGrp="1"/>
          </p:cNvSpPr>
          <p:nvPr/>
        </p:nvSpPr>
        <p:spPr>
          <a:xfrm>
            <a:off x="6019800" y="1981200"/>
            <a:ext cx="5638800" cy="33528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444398-4816-4FF3-8AC1-F7F337E0BFF8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647700" cy="7620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DD1BA9-3F28-423F-B5AB-ABF7C93B6C2F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2428"/>
                </a:solidFill>
              </a:defRPr>
            </a:pPr>
            <a:r>
              <a:rPr sz="2100" b="1">
                <a:solidFill>
                  <a:srgbClr val="2D2428"/>
                </a:solidFill>
              </a:rPr>
              <a:t>AI Camera Module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09B4C09-9036-4EE5-B599-0A96F9EC1E95}"/>
              </a:ext>
            </a:extLst>
          </p:cNvPr>
          <p:cNvSpPr>
            <a:spLocks noGrp="1"/>
          </p:cNvSpPr>
          <p:nvPr/>
        </p:nvSpPr>
        <p:spPr>
          <a:xfrm>
            <a:off x="3686175" y="2647950"/>
            <a:ext cx="1562100" cy="30480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BBF655-4419-462E-AB23-99EA90DEE8DE}"/>
              </a:ext>
            </a:extLst>
          </p:cNvPr>
          <p:cNvSpPr>
            <a:spLocks noGrp="1"/>
          </p:cNvSpPr>
          <p:nvPr/>
        </p:nvSpPr>
        <p:spPr>
          <a:xfrm>
            <a:off x="3781425" y="2714625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B74670"/>
                </a:solidFill>
              </a:defRPr>
            </a:pPr>
            <a:r>
              <a:rPr sz="900" b="1" dirty="0" err="1">
                <a:solidFill>
                  <a:srgbClr val="B74670"/>
                </a:solidFill>
              </a:rPr>
              <a:t>กำลังดำเนินการ</a:t>
            </a:r>
            <a:endParaRPr sz="900" b="1" dirty="0">
              <a:solidFill>
                <a:srgbClr val="B7467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DAF127-0E95-46CE-A8F1-12E32F8D0101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473E42"/>
                </a:solidFill>
              </a:defRPr>
            </a:pPr>
            <a:r>
              <a:rPr sz="1725" b="0" dirty="0" err="1">
                <a:solidFill>
                  <a:srgbClr val="473E42"/>
                </a:solidFill>
              </a:rPr>
              <a:t>ต้นแบบ</a:t>
            </a:r>
            <a:r>
              <a:rPr sz="1725" b="0" dirty="0">
                <a:solidFill>
                  <a:srgbClr val="473E42"/>
                </a:solidFill>
              </a:rPr>
              <a:t> Camera Module </a:t>
            </a:r>
            <a:r>
              <a:rPr sz="1725" b="0" dirty="0" err="1">
                <a:solidFill>
                  <a:srgbClr val="473E42"/>
                </a:solidFill>
              </a:rPr>
              <a:t>ใกล้เสร็จพร้อมงานประกอบ</a:t>
            </a:r>
            <a:r>
              <a:rPr lang="en-US" sz="1725" b="0" dirty="0">
                <a:solidFill>
                  <a:srgbClr val="473E42"/>
                </a:solidFill>
              </a:rPr>
              <a:t> </a:t>
            </a:r>
            <a:r>
              <a:rPr sz="1725" b="0" dirty="0" err="1">
                <a:solidFill>
                  <a:srgbClr val="473E42"/>
                </a:solidFill>
              </a:rPr>
              <a:t>และตรวจสอบการทำงานเบื้องต้น</a:t>
            </a:r>
            <a:endParaRPr sz="1725" b="0" dirty="0">
              <a:solidFill>
                <a:srgbClr val="473E4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1F1319-905A-4FD6-BBE7-6E992D3982BC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B74670"/>
                </a:solidFill>
              </a:defRPr>
            </a:pPr>
            <a:r>
              <a:rPr sz="1200" b="1" dirty="0" err="1">
                <a:solidFill>
                  <a:srgbClr val="B74670"/>
                </a:solidFill>
              </a:rPr>
              <a:t>เป้าหมายถัดไป</a:t>
            </a:r>
            <a:endParaRPr sz="1200" b="1" dirty="0">
              <a:solidFill>
                <a:srgbClr val="B7467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E70359-A25A-4943-8695-A08A691727E7}"/>
              </a:ext>
            </a:extLst>
          </p:cNvPr>
          <p:cNvSpPr>
            <a:spLocks noGrp="1"/>
          </p:cNvSpPr>
          <p:nvPr/>
        </p:nvSpPr>
        <p:spPr>
          <a:xfrm>
            <a:off x="819150" y="4619625"/>
            <a:ext cx="4114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86D72"/>
                </a:solidFill>
              </a:defRPr>
            </a:pPr>
            <a:r>
              <a:rPr sz="1350" b="0" dirty="0" err="1">
                <a:solidFill>
                  <a:srgbClr val="786D72"/>
                </a:solidFill>
              </a:rPr>
              <a:t>เริ่ม</a:t>
            </a:r>
            <a:r>
              <a:rPr sz="1350" b="0" dirty="0">
                <a:solidFill>
                  <a:srgbClr val="786D72"/>
                </a:solidFill>
              </a:rPr>
              <a:t> Initial Testing </a:t>
            </a:r>
            <a:r>
              <a:rPr sz="1350" b="0" dirty="0" err="1">
                <a:solidFill>
                  <a:srgbClr val="786D72"/>
                </a:solidFill>
              </a:rPr>
              <a:t>และ</a:t>
            </a:r>
            <a:r>
              <a:rPr sz="1350" b="0" dirty="0">
                <a:solidFill>
                  <a:srgbClr val="786D72"/>
                </a:solidFill>
              </a:rPr>
              <a:t> Calibration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0A1C0BC-4A95-42B4-81FF-8AFB8A477A66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647700" cy="7620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E4F062-70BB-4517-938A-C6F7DB410E6A}"/>
              </a:ext>
            </a:extLst>
          </p:cNvPr>
          <p:cNvSpPr>
            <a:spLocks noGrp="1"/>
          </p:cNvSpPr>
          <p:nvPr/>
        </p:nvSpPr>
        <p:spPr>
          <a:xfrm>
            <a:off x="6305550" y="26479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D2428"/>
                </a:solidFill>
              </a:defRPr>
            </a:pPr>
            <a:r>
              <a:rPr sz="2100" b="1">
                <a:solidFill>
                  <a:srgbClr val="2D2428"/>
                </a:solidFill>
              </a:rPr>
              <a:t>Software UI Mockup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E4C0278-367C-4CA9-9DB0-D5856744EF1A}"/>
              </a:ext>
            </a:extLst>
          </p:cNvPr>
          <p:cNvSpPr>
            <a:spLocks noGrp="1"/>
          </p:cNvSpPr>
          <p:nvPr/>
        </p:nvSpPr>
        <p:spPr>
          <a:xfrm>
            <a:off x="9563100" y="2647950"/>
            <a:ext cx="1676400" cy="30480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AFC4A9-2762-4255-891D-28C256BCEFE8}"/>
              </a:ext>
            </a:extLst>
          </p:cNvPr>
          <p:cNvSpPr>
            <a:spLocks noGrp="1"/>
          </p:cNvSpPr>
          <p:nvPr/>
        </p:nvSpPr>
        <p:spPr>
          <a:xfrm>
            <a:off x="9658350" y="2714625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B74670"/>
                </a:solidFill>
              </a:defRPr>
            </a:pPr>
            <a:r>
              <a:rPr sz="900" b="1">
                <a:solidFill>
                  <a:srgbClr val="B74670"/>
                </a:solidFill>
              </a:rPr>
              <a:t>อยู่ระหว่างพัฒนา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9B0DE6-E4E9-431B-A66A-8E8F9CDE1A31}"/>
              </a:ext>
            </a:extLst>
          </p:cNvPr>
          <p:cNvSpPr>
            <a:spLocks noGrp="1"/>
          </p:cNvSpPr>
          <p:nvPr/>
        </p:nvSpPr>
        <p:spPr>
          <a:xfrm>
            <a:off x="6305550" y="3200400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473E42"/>
                </a:solidFill>
              </a:defRPr>
            </a:pPr>
            <a:r>
              <a:rPr sz="1575" b="0" dirty="0" err="1">
                <a:solidFill>
                  <a:srgbClr val="473E42"/>
                </a:solidFill>
              </a:rPr>
              <a:t>พัฒนา</a:t>
            </a:r>
            <a:r>
              <a:rPr sz="1575" b="0" dirty="0">
                <a:solidFill>
                  <a:srgbClr val="473E42"/>
                </a:solidFill>
              </a:rPr>
              <a:t> UI </a:t>
            </a:r>
            <a:r>
              <a:rPr sz="1575" b="0" dirty="0" err="1">
                <a:solidFill>
                  <a:srgbClr val="473E42"/>
                </a:solidFill>
              </a:rPr>
              <a:t>สำหรับการประเมินแสดงผลแรงกดและติดตามผล</a:t>
            </a:r>
            <a:endParaRPr sz="1575" b="0" dirty="0">
              <a:solidFill>
                <a:srgbClr val="473E42"/>
              </a:solidFill>
            </a:endParaRPr>
          </a:p>
          <a:p>
            <a:pPr algn="l">
              <a:defRPr sz="1575" b="0">
                <a:solidFill>
                  <a:srgbClr val="473E42"/>
                </a:solidFill>
              </a:defRPr>
            </a:pPr>
            <a:r>
              <a:rPr sz="1575" b="0" dirty="0" err="1">
                <a:solidFill>
                  <a:srgbClr val="473E42"/>
                </a:solidFill>
              </a:rPr>
              <a:t>สำหรับผู้ดูแลและผู้รับบริการ</a:t>
            </a:r>
            <a:endParaRPr sz="1575" b="0" dirty="0">
              <a:solidFill>
                <a:srgbClr val="473E4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289ABF-1E7F-41F4-916B-A08F9B7BFBE3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B74670"/>
                </a:solidFill>
              </a:defRPr>
            </a:pPr>
            <a:r>
              <a:rPr sz="1200" b="1">
                <a:solidFill>
                  <a:srgbClr val="B74670"/>
                </a:solidFill>
              </a:rPr>
              <a:t>สถานะปัจจุบัน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6B91FC-3370-432A-A315-2D353776DB47}"/>
              </a:ext>
            </a:extLst>
          </p:cNvPr>
          <p:cNvSpPr>
            <a:spLocks noGrp="1"/>
          </p:cNvSpPr>
          <p:nvPr/>
        </p:nvSpPr>
        <p:spPr>
          <a:xfrm>
            <a:off x="6305550" y="4619625"/>
            <a:ext cx="4400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86D72"/>
                </a:solidFill>
              </a:defRPr>
            </a:pPr>
            <a:r>
              <a:rPr sz="1350" b="0" dirty="0" err="1">
                <a:solidFill>
                  <a:srgbClr val="786D72"/>
                </a:solidFill>
              </a:rPr>
              <a:t>ใช้เป็น</a:t>
            </a:r>
            <a:r>
              <a:rPr sz="1350" b="0" dirty="0">
                <a:solidFill>
                  <a:srgbClr val="786D72"/>
                </a:solidFill>
              </a:rPr>
              <a:t> Software Demo </a:t>
            </a:r>
            <a:r>
              <a:rPr sz="1350" b="0" dirty="0" err="1">
                <a:solidFill>
                  <a:srgbClr val="786D72"/>
                </a:solidFill>
              </a:rPr>
              <a:t>และ</a:t>
            </a:r>
            <a:r>
              <a:rPr sz="1350" b="0" dirty="0">
                <a:solidFill>
                  <a:srgbClr val="786D72"/>
                </a:solidFill>
              </a:rPr>
              <a:t> UI Mockup — </a:t>
            </a:r>
            <a:r>
              <a:rPr sz="1350" b="0" dirty="0" err="1">
                <a:solidFill>
                  <a:srgbClr val="786D72"/>
                </a:solidFill>
              </a:rPr>
              <a:t>ยังไม่ใช่ระบบใช้งานจริง</a:t>
            </a:r>
            <a:endParaRPr sz="1350" b="0" dirty="0">
              <a:solidFill>
                <a:srgbClr val="786D72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EDE98D-0128-0926-A8E5-3F0D544922C6}"/>
              </a:ext>
            </a:extLst>
          </p:cNvPr>
          <p:cNvSpPr>
            <a:spLocks noGrp="1"/>
          </p:cNvSpPr>
          <p:nvPr/>
        </p:nvSpPr>
        <p:spPr>
          <a:xfrm>
            <a:off x="9239250" y="6581775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86D72"/>
                </a:solidFill>
              </a:defRPr>
            </a:pPr>
            <a:r>
              <a:rPr sz="825" b="0" dirty="0">
                <a:solidFill>
                  <a:srgbClr val="786D72"/>
                </a:solidFill>
              </a:rPr>
              <a:t>1</a:t>
            </a:r>
            <a:r>
              <a:rPr lang="en-US" sz="825" b="0" dirty="0">
                <a:solidFill>
                  <a:srgbClr val="786D72"/>
                </a:solidFill>
              </a:rPr>
              <a:t>8</a:t>
            </a:r>
            <a:r>
              <a:rPr sz="825" b="0" dirty="0">
                <a:solidFill>
                  <a:srgbClr val="786D72"/>
                </a:solidFill>
              </a:rPr>
              <a:t> </a:t>
            </a:r>
            <a:r>
              <a:rPr sz="825" b="0" dirty="0" err="1">
                <a:solidFill>
                  <a:srgbClr val="786D72"/>
                </a:solidFill>
              </a:rPr>
              <a:t>สิงหาคม</a:t>
            </a:r>
            <a:r>
              <a:rPr sz="825" b="0" dirty="0">
                <a:solidFill>
                  <a:srgbClr val="786D72"/>
                </a:solidFill>
              </a:rPr>
              <a:t> 2569 </a:t>
            </a:r>
          </a:p>
        </p:txBody>
      </p:sp>
    </p:spTree>
    <p:extLst>
      <p:ext uri="{BB962C8B-B14F-4D97-AF65-F5344CB8AC3E}">
        <p14:creationId xmlns:p14="http://schemas.microsoft.com/office/powerpoint/2010/main" val="209722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3D3398D-DB36-4AA9-8FB5-FAFFF45618A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74670"/>
                </a:solidFill>
              </a:defRPr>
            </a:pPr>
            <a:r>
              <a:rPr sz="975" b="1">
                <a:solidFill>
                  <a:srgbClr val="B74670"/>
                </a:solidFill>
              </a:rPr>
              <a:t>SOFTWARE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C113EB-32FE-4EF0-A276-07706849FE1D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D2428"/>
                </a:solidFill>
              </a:defRPr>
            </a:pPr>
            <a:r>
              <a:rPr sz="2850" b="1">
                <a:solidFill>
                  <a:srgbClr val="2D2428"/>
                </a:solidFill>
              </a:rPr>
              <a:t>Software UI Mockup อยู่ระหว่างพัฒนา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7CE0A1-EFBA-4A4C-A498-BED404D57184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1988C0-F640-4B5A-B32B-BE69A70885AB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86D72"/>
                </a:solidFill>
              </a:defRPr>
            </a:pPr>
            <a:r>
              <a:rPr sz="825" b="0">
                <a:solidFill>
                  <a:srgbClr val="786D72"/>
                </a:solidFill>
              </a:rPr>
              <a:t>รายงานความก้าวหน้าต้นแบบระบบประเมินความเสี่ยงหกล้ม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670501-473D-4611-8E9C-7FFF2A439BA7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057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786D72"/>
                </a:solidFill>
              </a:defRPr>
            </a:pPr>
            <a:r>
              <a:rPr sz="1500" b="0">
                <a:solidFill>
                  <a:srgbClr val="786D72"/>
                </a:solidFill>
              </a:rPr>
              <a:t>ระบบสาธิตแสดง workflow ของการประเมินและติดตามผล โดยใช้ข้อมูลตัวอย่างสำหรับการพัฒนา UI เท่านั้น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rcRect t="16274" b="16274"/>
          <a:stretch>
            <a:fillRect/>
          </a:stretch>
        </p:blipFill>
        <p:spPr>
          <a:xfrm>
            <a:off x="533400" y="1809750"/>
            <a:ext cx="5905500" cy="3695700"/>
          </a:xfrm>
          <a:prstGeom prst="roundRect">
            <a:avLst>
              <a:gd name="adj" fmla="val 4124"/>
            </a:avLst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2B6D03-A63A-4664-BFAC-CA1E688705A6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4933950" cy="3695700"/>
          </a:xfrm>
          <a:prstGeom prst="roundRect">
            <a:avLst>
              <a:gd name="adj" fmla="val 5670"/>
            </a:avLst>
          </a:prstGeom>
          <a:solidFill>
            <a:srgbClr val="FCF8FA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B0EB85-C402-45A3-B35C-F34F89B2C483}"/>
              </a:ext>
            </a:extLst>
          </p:cNvPr>
          <p:cNvSpPr>
            <a:spLocks noGrp="1"/>
          </p:cNvSpPr>
          <p:nvPr/>
        </p:nvSpPr>
        <p:spPr>
          <a:xfrm>
            <a:off x="7029450" y="2095500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D2428"/>
                </a:solidFill>
              </a:defRPr>
            </a:pPr>
            <a:r>
              <a:rPr sz="1875" b="1">
                <a:solidFill>
                  <a:srgbClr val="2D2428"/>
                </a:solidFill>
              </a:rPr>
              <a:t>ขอบเขตหน้าจอที่กำลังพัฒนา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FA3342-00D8-47CC-B3BC-D0D22FA95178}"/>
              </a:ext>
            </a:extLst>
          </p:cNvPr>
          <p:cNvSpPr>
            <a:spLocks noGrp="1"/>
          </p:cNvSpPr>
          <p:nvPr/>
        </p:nvSpPr>
        <p:spPr>
          <a:xfrm>
            <a:off x="7029450" y="2686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B8129E-82CE-45F9-8576-C35F37CCB2B0}"/>
              </a:ext>
            </a:extLst>
          </p:cNvPr>
          <p:cNvSpPr>
            <a:spLocks noGrp="1"/>
          </p:cNvSpPr>
          <p:nvPr/>
        </p:nvSpPr>
        <p:spPr>
          <a:xfrm>
            <a:off x="7029450" y="2697935"/>
            <a:ext cx="2286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194740-CEAB-4DAB-97A7-F625CD0301F6}"/>
              </a:ext>
            </a:extLst>
          </p:cNvPr>
          <p:cNvSpPr>
            <a:spLocks noGrp="1"/>
          </p:cNvSpPr>
          <p:nvPr/>
        </p:nvSpPr>
        <p:spPr>
          <a:xfrm>
            <a:off x="7429500" y="2647950"/>
            <a:ext cx="2000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D2428"/>
                </a:solidFill>
              </a:defRPr>
            </a:pPr>
            <a:r>
              <a:rPr sz="1350" b="1">
                <a:solidFill>
                  <a:srgbClr val="2D2428"/>
                </a:solidFill>
              </a:rPr>
              <a:t>Clinician dashboard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9F8292-8596-4CC1-87A7-D83AEAD78FC6}"/>
              </a:ext>
            </a:extLst>
          </p:cNvPr>
          <p:cNvSpPr>
            <a:spLocks noGrp="1"/>
          </p:cNvSpPr>
          <p:nvPr/>
        </p:nvSpPr>
        <p:spPr>
          <a:xfrm>
            <a:off x="7429500" y="2886075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86D72"/>
                </a:solidFill>
              </a:defRPr>
            </a:pPr>
            <a:r>
              <a:rPr sz="1125" b="0">
                <a:solidFill>
                  <a:srgbClr val="786D72"/>
                </a:solidFill>
              </a:rPr>
              <a:t>ภาพรวมการประเมินและรายการผู้รับบริการ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5119866-B80B-49EB-AC7B-6E5EECAC698F}"/>
              </a:ext>
            </a:extLst>
          </p:cNvPr>
          <p:cNvSpPr>
            <a:spLocks noGrp="1"/>
          </p:cNvSpPr>
          <p:nvPr/>
        </p:nvSpPr>
        <p:spPr>
          <a:xfrm>
            <a:off x="7029450" y="33051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1B61D5-EB88-4144-B1C1-B464E0CB3E62}"/>
              </a:ext>
            </a:extLst>
          </p:cNvPr>
          <p:cNvSpPr>
            <a:spLocks noGrp="1"/>
          </p:cNvSpPr>
          <p:nvPr/>
        </p:nvSpPr>
        <p:spPr>
          <a:xfrm>
            <a:off x="7029450" y="3317060"/>
            <a:ext cx="2286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03C854-BC99-43E9-9822-1CA94F992CE4}"/>
              </a:ext>
            </a:extLst>
          </p:cNvPr>
          <p:cNvSpPr>
            <a:spLocks noGrp="1"/>
          </p:cNvSpPr>
          <p:nvPr/>
        </p:nvSpPr>
        <p:spPr>
          <a:xfrm>
            <a:off x="7429500" y="3267075"/>
            <a:ext cx="2000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D2428"/>
                </a:solidFill>
              </a:defRPr>
            </a:pPr>
            <a:r>
              <a:rPr sz="1350" b="1">
                <a:solidFill>
                  <a:srgbClr val="2D2428"/>
                </a:solidFill>
              </a:rPr>
              <a:t>Live assessment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6E0887-E04C-4F58-AB49-177CDC9FA3C2}"/>
              </a:ext>
            </a:extLst>
          </p:cNvPr>
          <p:cNvSpPr>
            <a:spLocks noGrp="1"/>
          </p:cNvSpPr>
          <p:nvPr/>
        </p:nvSpPr>
        <p:spPr>
          <a:xfrm>
            <a:off x="7429500" y="350520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86D72"/>
                </a:solidFill>
              </a:defRPr>
            </a:pPr>
            <a:r>
              <a:rPr sz="1125" b="0">
                <a:solidFill>
                  <a:srgbClr val="786D72"/>
                </a:solidFill>
              </a:rPr>
              <a:t>แสดง heatmap แรงกดและสัญญาณการเคลื่อนไหว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E177FC6-8486-44CB-B32C-9D0E936D3E35}"/>
              </a:ext>
            </a:extLst>
          </p:cNvPr>
          <p:cNvSpPr>
            <a:spLocks noGrp="1"/>
          </p:cNvSpPr>
          <p:nvPr/>
        </p:nvSpPr>
        <p:spPr>
          <a:xfrm>
            <a:off x="7029450" y="39243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69BC24-284E-4EA9-AFBC-A6C4A00D5452}"/>
              </a:ext>
            </a:extLst>
          </p:cNvPr>
          <p:cNvSpPr>
            <a:spLocks noGrp="1"/>
          </p:cNvSpPr>
          <p:nvPr/>
        </p:nvSpPr>
        <p:spPr>
          <a:xfrm>
            <a:off x="7029450" y="3936185"/>
            <a:ext cx="2286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AD19F6-23B8-429C-8833-E9A5B29CAA13}"/>
              </a:ext>
            </a:extLst>
          </p:cNvPr>
          <p:cNvSpPr>
            <a:spLocks noGrp="1"/>
          </p:cNvSpPr>
          <p:nvPr/>
        </p:nvSpPr>
        <p:spPr>
          <a:xfrm>
            <a:off x="7429500" y="3886200"/>
            <a:ext cx="2000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D2428"/>
                </a:solidFill>
              </a:defRPr>
            </a:pPr>
            <a:r>
              <a:rPr sz="1350" b="1">
                <a:solidFill>
                  <a:srgbClr val="2D2428"/>
                </a:solidFill>
              </a:rPr>
              <a:t>Patient result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13D439-FA69-4488-8E3F-AA5C7E42BDDA}"/>
              </a:ext>
            </a:extLst>
          </p:cNvPr>
          <p:cNvSpPr>
            <a:spLocks noGrp="1"/>
          </p:cNvSpPr>
          <p:nvPr/>
        </p:nvSpPr>
        <p:spPr>
          <a:xfrm>
            <a:off x="7429500" y="4124325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86D72"/>
                </a:solidFill>
              </a:defRPr>
            </a:pPr>
            <a:r>
              <a:rPr sz="1125" b="0">
                <a:solidFill>
                  <a:srgbClr val="786D72"/>
                </a:solidFill>
              </a:rPr>
              <a:t>สรุปคะแนน แนวโน้ม และคำแนะนำ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3F434E5-F687-4C1E-86CF-1D7202028DF5}"/>
              </a:ext>
            </a:extLst>
          </p:cNvPr>
          <p:cNvSpPr>
            <a:spLocks noGrp="1"/>
          </p:cNvSpPr>
          <p:nvPr/>
        </p:nvSpPr>
        <p:spPr>
          <a:xfrm>
            <a:off x="7029450" y="45434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F48861-0892-4033-A7C9-80C85AE95EB2}"/>
              </a:ext>
            </a:extLst>
          </p:cNvPr>
          <p:cNvSpPr>
            <a:spLocks noGrp="1"/>
          </p:cNvSpPr>
          <p:nvPr/>
        </p:nvSpPr>
        <p:spPr>
          <a:xfrm>
            <a:off x="7029450" y="4555310"/>
            <a:ext cx="2286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4BC056-E84B-4272-86D9-68DEA744DC7E}"/>
              </a:ext>
            </a:extLst>
          </p:cNvPr>
          <p:cNvSpPr>
            <a:spLocks noGrp="1"/>
          </p:cNvSpPr>
          <p:nvPr/>
        </p:nvSpPr>
        <p:spPr>
          <a:xfrm>
            <a:off x="7429500" y="4505325"/>
            <a:ext cx="20002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D2428"/>
                </a:solidFill>
              </a:defRPr>
            </a:pPr>
            <a:r>
              <a:rPr sz="1350" b="1">
                <a:solidFill>
                  <a:srgbClr val="2D2428"/>
                </a:solidFill>
              </a:rPr>
              <a:t>History &amp; 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BD13C0-6B5C-4D25-9C0A-1F1EB1EA2ED9}"/>
              </a:ext>
            </a:extLst>
          </p:cNvPr>
          <p:cNvSpPr>
            <a:spLocks noGrp="1"/>
          </p:cNvSpPr>
          <p:nvPr/>
        </p:nvSpPr>
        <p:spPr>
          <a:xfrm>
            <a:off x="7429500" y="4743450"/>
            <a:ext cx="3638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786D72"/>
                </a:solidFill>
              </a:defRPr>
            </a:pPr>
            <a:r>
              <a:rPr sz="1125" b="0">
                <a:solidFill>
                  <a:srgbClr val="786D72"/>
                </a:solidFill>
              </a:rPr>
              <a:t>ติดตามผลการประเมินย้อนหลัง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F173444-2B2D-4CC9-A42B-EDF8F244625F}"/>
              </a:ext>
            </a:extLst>
          </p:cNvPr>
          <p:cNvSpPr>
            <a:spLocks noGrp="1"/>
          </p:cNvSpPr>
          <p:nvPr/>
        </p:nvSpPr>
        <p:spPr>
          <a:xfrm>
            <a:off x="8248650" y="4981575"/>
            <a:ext cx="2743200" cy="30480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ED7918-8C73-45CB-8C53-8F775BBCB47E}"/>
              </a:ext>
            </a:extLst>
          </p:cNvPr>
          <p:cNvSpPr>
            <a:spLocks noGrp="1"/>
          </p:cNvSpPr>
          <p:nvPr/>
        </p:nvSpPr>
        <p:spPr>
          <a:xfrm>
            <a:off x="8343900" y="5048250"/>
            <a:ext cx="2552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B74670"/>
                </a:solidFill>
              </a:defRPr>
            </a:pPr>
            <a:r>
              <a:rPr sz="900" b="1">
                <a:solidFill>
                  <a:srgbClr val="B74670"/>
                </a:solidFill>
              </a:rPr>
              <a:t>UI Mockup / Work in Progress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B1D169-7B94-75AE-C49C-499C62126CC6}"/>
              </a:ext>
            </a:extLst>
          </p:cNvPr>
          <p:cNvSpPr>
            <a:spLocks noGrp="1"/>
          </p:cNvSpPr>
          <p:nvPr/>
        </p:nvSpPr>
        <p:spPr>
          <a:xfrm>
            <a:off x="9239250" y="6581775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86D72"/>
                </a:solidFill>
              </a:defRPr>
            </a:pPr>
            <a:r>
              <a:rPr sz="825" b="0" dirty="0">
                <a:solidFill>
                  <a:srgbClr val="786D72"/>
                </a:solidFill>
              </a:rPr>
              <a:t>1</a:t>
            </a:r>
            <a:r>
              <a:rPr lang="en-US" sz="825" b="0" dirty="0">
                <a:solidFill>
                  <a:srgbClr val="786D72"/>
                </a:solidFill>
              </a:rPr>
              <a:t>8</a:t>
            </a:r>
            <a:r>
              <a:rPr sz="825" b="0" dirty="0">
                <a:solidFill>
                  <a:srgbClr val="786D72"/>
                </a:solidFill>
              </a:rPr>
              <a:t> </a:t>
            </a:r>
            <a:r>
              <a:rPr sz="825" b="0" dirty="0" err="1">
                <a:solidFill>
                  <a:srgbClr val="786D72"/>
                </a:solidFill>
              </a:rPr>
              <a:t>สิงหาคม</a:t>
            </a:r>
            <a:r>
              <a:rPr sz="825" b="0" dirty="0">
                <a:solidFill>
                  <a:srgbClr val="786D72"/>
                </a:solidFill>
              </a:rPr>
              <a:t> 2569 </a:t>
            </a:r>
          </a:p>
        </p:txBody>
      </p:sp>
    </p:spTree>
    <p:extLst>
      <p:ext uri="{BB962C8B-B14F-4D97-AF65-F5344CB8AC3E}">
        <p14:creationId xmlns:p14="http://schemas.microsoft.com/office/powerpoint/2010/main" val="115078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455A213-42D6-4F1D-932E-00F23D60EFD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74670"/>
                </a:solidFill>
              </a:defRPr>
            </a:pPr>
            <a:r>
              <a:rPr sz="975" b="1">
                <a:solidFill>
                  <a:srgbClr val="B74670"/>
                </a:solidFill>
              </a:rPr>
              <a:t>DEMO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9C0AFF-36B2-48CB-B22F-EF764938F6A8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D2428"/>
                </a:solidFill>
              </a:defRPr>
            </a:pPr>
            <a:r>
              <a:rPr sz="2850" b="1">
                <a:solidFill>
                  <a:srgbClr val="2D2428"/>
                </a:solidFill>
              </a:rPr>
              <a:t>ตัวอย่างลำดับการใช้งานใน Software UI Mockup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437030-5AE4-4418-8039-479ABA006034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0BB21-B2DC-4955-8F6D-A9FFA8F0AEC2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86D72"/>
                </a:solidFill>
              </a:defRPr>
            </a:pPr>
            <a:r>
              <a:rPr sz="825" b="0">
                <a:solidFill>
                  <a:srgbClr val="786D72"/>
                </a:solidFill>
              </a:rPr>
              <a:t>รายงานความก้าวหน้าต้นแบบระบบประเมินความเสี่ยงหกล้ม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105EB8-A529-4119-8969-CD1C243BB7D2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786D72"/>
                </a:solidFill>
              </a:defRPr>
            </a:pPr>
            <a:r>
              <a:rPr sz="1500" b="0">
                <a:solidFill>
                  <a:srgbClr val="786D72"/>
                </a:solidFill>
              </a:rPr>
              <a:t>มุมมองการใช้งานแสดงเส้นทางตั้งแต่เลือกบทบาท ไปจนถึงติดตามสัญญาณและทบทวนผลประเมิน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52B59E-C88A-4701-AD5F-F4B149C8A637}"/>
              </a:ext>
            </a:extLst>
          </p:cNvPr>
          <p:cNvSpPr>
            <a:spLocks noGrp="1"/>
          </p:cNvSpPr>
          <p:nvPr/>
        </p:nvSpPr>
        <p:spPr>
          <a:xfrm>
            <a:off x="533400" y="1857375"/>
            <a:ext cx="257175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rcRect l="8444" r="8444"/>
          <a:stretch>
            <a:fillRect/>
          </a:stretch>
        </p:blipFill>
        <p:spPr>
          <a:xfrm>
            <a:off x="628650" y="1952625"/>
            <a:ext cx="2381250" cy="1790700"/>
          </a:xfrm>
          <a:prstGeom prst="roundRect">
            <a:avLst>
              <a:gd name="adj" fmla="val 6383"/>
            </a:avLst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58FBC5-69F6-4B95-A718-B3BA15F2ECF7}"/>
              </a:ext>
            </a:extLst>
          </p:cNvPr>
          <p:cNvSpPr>
            <a:spLocks noGrp="1"/>
          </p:cNvSpPr>
          <p:nvPr/>
        </p:nvSpPr>
        <p:spPr>
          <a:xfrm>
            <a:off x="704850" y="38957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3FEE85-AC63-4A89-91A2-52E399D35162}"/>
              </a:ext>
            </a:extLst>
          </p:cNvPr>
          <p:cNvSpPr>
            <a:spLocks noGrp="1"/>
          </p:cNvSpPr>
          <p:nvPr/>
        </p:nvSpPr>
        <p:spPr>
          <a:xfrm>
            <a:off x="704850" y="3935829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E3D2C5-0C58-4122-90DE-A0BBF9901C79}"/>
              </a:ext>
            </a:extLst>
          </p:cNvPr>
          <p:cNvSpPr>
            <a:spLocks noGrp="1"/>
          </p:cNvSpPr>
          <p:nvPr/>
        </p:nvSpPr>
        <p:spPr>
          <a:xfrm>
            <a:off x="1123950" y="39052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D2428"/>
                </a:solidFill>
              </a:defRPr>
            </a:pPr>
            <a:r>
              <a:rPr sz="1350" b="1">
                <a:solidFill>
                  <a:srgbClr val="2D2428"/>
                </a:solidFill>
              </a:rPr>
              <a:t>เลือกบทบาท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9CC1D6-450B-4F03-8FC5-99863C69A742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21336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786D72"/>
                </a:solidFill>
              </a:defRPr>
            </a:pPr>
            <a:r>
              <a:rPr sz="1050" b="0">
                <a:solidFill>
                  <a:srgbClr val="786D72"/>
                </a:solidFill>
              </a:rPr>
              <a:t>login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1BADF7-1205-4E8F-BF91-2869808EB672}"/>
              </a:ext>
            </a:extLst>
          </p:cNvPr>
          <p:cNvSpPr>
            <a:spLocks noGrp="1"/>
          </p:cNvSpPr>
          <p:nvPr/>
        </p:nvSpPr>
        <p:spPr>
          <a:xfrm>
            <a:off x="3133725" y="32004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74670"/>
                </a:solidFill>
              </a:defRPr>
            </a:pPr>
            <a:r>
              <a:rPr sz="1650" b="1">
                <a:solidFill>
                  <a:srgbClr val="B74670"/>
                </a:solidFill>
              </a:rP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89D8D78-3F55-4A87-91C7-020523CA9869}"/>
              </a:ext>
            </a:extLst>
          </p:cNvPr>
          <p:cNvSpPr>
            <a:spLocks noGrp="1"/>
          </p:cNvSpPr>
          <p:nvPr/>
        </p:nvSpPr>
        <p:spPr>
          <a:xfrm>
            <a:off x="3333750" y="1857375"/>
            <a:ext cx="257175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4"/>
          <a:srcRect t="9473" b="9473"/>
          <a:stretch>
            <a:fillRect/>
          </a:stretch>
        </p:blipFill>
        <p:spPr>
          <a:xfrm>
            <a:off x="3429000" y="1952625"/>
            <a:ext cx="2381250" cy="1790700"/>
          </a:xfrm>
          <a:prstGeom prst="roundRect">
            <a:avLst>
              <a:gd name="adj" fmla="val 6383"/>
            </a:avLst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F7A7100-5AE1-45CD-A608-F0416D32EC6F}"/>
              </a:ext>
            </a:extLst>
          </p:cNvPr>
          <p:cNvSpPr>
            <a:spLocks noGrp="1"/>
          </p:cNvSpPr>
          <p:nvPr/>
        </p:nvSpPr>
        <p:spPr>
          <a:xfrm>
            <a:off x="3505200" y="38957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9ED368-1204-4D8D-9180-BD4930CB2423}"/>
              </a:ext>
            </a:extLst>
          </p:cNvPr>
          <p:cNvSpPr>
            <a:spLocks noGrp="1"/>
          </p:cNvSpPr>
          <p:nvPr/>
        </p:nvSpPr>
        <p:spPr>
          <a:xfrm>
            <a:off x="3505200" y="3935829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40EF4-6391-450A-A55B-F509E7AFAE79}"/>
              </a:ext>
            </a:extLst>
          </p:cNvPr>
          <p:cNvSpPr>
            <a:spLocks noGrp="1"/>
          </p:cNvSpPr>
          <p:nvPr/>
        </p:nvSpPr>
        <p:spPr>
          <a:xfrm>
            <a:off x="3924300" y="39052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D2428"/>
                </a:solidFill>
              </a:defRPr>
            </a:pPr>
            <a:r>
              <a:rPr sz="1350" b="1">
                <a:solidFill>
                  <a:srgbClr val="2D2428"/>
                </a:solidFill>
              </a:rPr>
              <a:t>ดูภาพรวม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CE053F-B4CF-4152-9184-5F60E5D4A7C7}"/>
              </a:ext>
            </a:extLst>
          </p:cNvPr>
          <p:cNvSpPr>
            <a:spLocks noGrp="1"/>
          </p:cNvSpPr>
          <p:nvPr/>
        </p:nvSpPr>
        <p:spPr>
          <a:xfrm>
            <a:off x="3505200" y="4381500"/>
            <a:ext cx="21336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786D72"/>
                </a:solidFill>
              </a:defRPr>
            </a:pPr>
            <a:r>
              <a:rPr sz="1050" b="0" dirty="0">
                <a:solidFill>
                  <a:srgbClr val="786D72"/>
                </a:solidFill>
              </a:rPr>
              <a:t>clinician 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765DAC-40EE-4FCD-B5E4-F796448B4794}"/>
              </a:ext>
            </a:extLst>
          </p:cNvPr>
          <p:cNvSpPr>
            <a:spLocks noGrp="1"/>
          </p:cNvSpPr>
          <p:nvPr/>
        </p:nvSpPr>
        <p:spPr>
          <a:xfrm>
            <a:off x="5934075" y="32004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74670"/>
                </a:solidFill>
              </a:defRPr>
            </a:pPr>
            <a:r>
              <a:rPr sz="1650" b="1">
                <a:solidFill>
                  <a:srgbClr val="B74670"/>
                </a:solidFill>
              </a:rPr>
              <a:t>→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9B91BC2-6BD2-4787-B64E-5E0AB475EFE4}"/>
              </a:ext>
            </a:extLst>
          </p:cNvPr>
          <p:cNvSpPr>
            <a:spLocks noGrp="1"/>
          </p:cNvSpPr>
          <p:nvPr/>
        </p:nvSpPr>
        <p:spPr>
          <a:xfrm>
            <a:off x="6134100" y="1857375"/>
            <a:ext cx="257175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5"/>
          <a:srcRect t="3763" b="3763"/>
          <a:stretch>
            <a:fillRect/>
          </a:stretch>
        </p:blipFill>
        <p:spPr>
          <a:xfrm>
            <a:off x="6229350" y="1952625"/>
            <a:ext cx="2381250" cy="1790700"/>
          </a:xfrm>
          <a:prstGeom prst="roundRect">
            <a:avLst>
              <a:gd name="adj" fmla="val 6383"/>
            </a:avLst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40C79FC-7381-4D89-9AEB-4EE9971C5F73}"/>
              </a:ext>
            </a:extLst>
          </p:cNvPr>
          <p:cNvSpPr>
            <a:spLocks noGrp="1"/>
          </p:cNvSpPr>
          <p:nvPr/>
        </p:nvSpPr>
        <p:spPr>
          <a:xfrm>
            <a:off x="6305550" y="38957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65D3FC-11B7-4046-A8C1-E911A2AAED20}"/>
              </a:ext>
            </a:extLst>
          </p:cNvPr>
          <p:cNvSpPr>
            <a:spLocks noGrp="1"/>
          </p:cNvSpPr>
          <p:nvPr/>
        </p:nvSpPr>
        <p:spPr>
          <a:xfrm>
            <a:off x="6305550" y="394184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0F7904-E523-4E1A-8119-A5CB1F75A81F}"/>
              </a:ext>
            </a:extLst>
          </p:cNvPr>
          <p:cNvSpPr>
            <a:spLocks noGrp="1"/>
          </p:cNvSpPr>
          <p:nvPr/>
        </p:nvSpPr>
        <p:spPr>
          <a:xfrm>
            <a:off x="6724650" y="39052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D2428"/>
                </a:solidFill>
              </a:defRPr>
            </a:pPr>
            <a:r>
              <a:rPr sz="1350" b="1">
                <a:solidFill>
                  <a:srgbClr val="2D2428"/>
                </a:solidFill>
              </a:rPr>
              <a:t>ติดตามแบบสด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665278-0443-4F40-BE07-4E89D7D582F6}"/>
              </a:ext>
            </a:extLst>
          </p:cNvPr>
          <p:cNvSpPr>
            <a:spLocks noGrp="1"/>
          </p:cNvSpPr>
          <p:nvPr/>
        </p:nvSpPr>
        <p:spPr>
          <a:xfrm>
            <a:off x="6305550" y="4381500"/>
            <a:ext cx="21336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786D72"/>
                </a:solidFill>
              </a:defRPr>
            </a:pPr>
            <a:r>
              <a:rPr sz="1050" b="0">
                <a:solidFill>
                  <a:srgbClr val="786D72"/>
                </a:solidFill>
              </a:rPr>
              <a:t>live assessment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F28909-EC56-4818-B1C1-C5260C20B06F}"/>
              </a:ext>
            </a:extLst>
          </p:cNvPr>
          <p:cNvSpPr>
            <a:spLocks noGrp="1"/>
          </p:cNvSpPr>
          <p:nvPr/>
        </p:nvSpPr>
        <p:spPr>
          <a:xfrm>
            <a:off x="8734425" y="32004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74670"/>
                </a:solidFill>
              </a:defRPr>
            </a:pPr>
            <a:r>
              <a:rPr sz="1650" b="1">
                <a:solidFill>
                  <a:srgbClr val="B74670"/>
                </a:solidFill>
              </a:rPr>
              <a:t>→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FF97504-B127-40BA-9D4F-31BC5496741C}"/>
              </a:ext>
            </a:extLst>
          </p:cNvPr>
          <p:cNvSpPr>
            <a:spLocks noGrp="1"/>
          </p:cNvSpPr>
          <p:nvPr/>
        </p:nvSpPr>
        <p:spPr>
          <a:xfrm>
            <a:off x="8934450" y="1857375"/>
            <a:ext cx="257175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6"/>
          <a:srcRect l="318" r="318"/>
          <a:stretch>
            <a:fillRect/>
          </a:stretch>
        </p:blipFill>
        <p:spPr>
          <a:xfrm>
            <a:off x="9029700" y="1952625"/>
            <a:ext cx="2381250" cy="1790700"/>
          </a:xfrm>
          <a:prstGeom prst="roundRect">
            <a:avLst>
              <a:gd name="adj" fmla="val 6383"/>
            </a:avLst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B46E04A-C7DE-4272-AC5E-4F03E45663C6}"/>
              </a:ext>
            </a:extLst>
          </p:cNvPr>
          <p:cNvSpPr>
            <a:spLocks noGrp="1"/>
          </p:cNvSpPr>
          <p:nvPr/>
        </p:nvSpPr>
        <p:spPr>
          <a:xfrm>
            <a:off x="9105900" y="38957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2FB5C0-3FB7-409F-8DFC-6E826267C858}"/>
              </a:ext>
            </a:extLst>
          </p:cNvPr>
          <p:cNvSpPr>
            <a:spLocks noGrp="1"/>
          </p:cNvSpPr>
          <p:nvPr/>
        </p:nvSpPr>
        <p:spPr>
          <a:xfrm>
            <a:off x="9105900" y="3935640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5BCAFD-8932-43E4-984A-676815FAF061}"/>
              </a:ext>
            </a:extLst>
          </p:cNvPr>
          <p:cNvSpPr>
            <a:spLocks noGrp="1"/>
          </p:cNvSpPr>
          <p:nvPr/>
        </p:nvSpPr>
        <p:spPr>
          <a:xfrm>
            <a:off x="9525000" y="39052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D2428"/>
                </a:solidFill>
              </a:defRPr>
            </a:pPr>
            <a:r>
              <a:rPr sz="1350" b="1">
                <a:solidFill>
                  <a:srgbClr val="2D2428"/>
                </a:solidFill>
              </a:rPr>
              <a:t>ดูผลสรุป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4418F8A-9909-4B23-B9E0-AD83EEBEF490}"/>
              </a:ext>
            </a:extLst>
          </p:cNvPr>
          <p:cNvSpPr>
            <a:spLocks noGrp="1"/>
          </p:cNvSpPr>
          <p:nvPr/>
        </p:nvSpPr>
        <p:spPr>
          <a:xfrm>
            <a:off x="9105900" y="4381500"/>
            <a:ext cx="21336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786D72"/>
                </a:solidFill>
              </a:defRPr>
            </a:pPr>
            <a:r>
              <a:rPr sz="1050" b="0">
                <a:solidFill>
                  <a:srgbClr val="786D72"/>
                </a:solidFill>
              </a:rPr>
              <a:t>patient result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9A62A53-5B27-4A54-9CA8-757C3F2E5F0A}"/>
              </a:ext>
            </a:extLst>
          </p:cNvPr>
          <p:cNvSpPr>
            <a:spLocks noGrp="1"/>
          </p:cNvSpPr>
          <p:nvPr/>
        </p:nvSpPr>
        <p:spPr>
          <a:xfrm>
            <a:off x="533400" y="5305425"/>
            <a:ext cx="11125200" cy="457200"/>
          </a:xfrm>
          <a:prstGeom prst="roundRect">
            <a:avLst>
              <a:gd name="adj" fmla="val 29167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3EB1AD2-FD16-4DDC-8951-E54B4EF3BA5A}"/>
              </a:ext>
            </a:extLst>
          </p:cNvPr>
          <p:cNvSpPr>
            <a:spLocks noGrp="1"/>
          </p:cNvSpPr>
          <p:nvPr/>
        </p:nvSpPr>
        <p:spPr>
          <a:xfrm>
            <a:off x="762000" y="5438775"/>
            <a:ext cx="10287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B74670"/>
                </a:solidFill>
              </a:defRPr>
            </a:pPr>
            <a:r>
              <a:rPr sz="1600" b="1" dirty="0">
                <a:solidFill>
                  <a:srgbClr val="B74670"/>
                </a:solidFill>
              </a:rPr>
              <a:t>UI Mockup / Work in Progress  •  </a:t>
            </a:r>
            <a:r>
              <a:rPr sz="1600" b="1" dirty="0" err="1">
                <a:solidFill>
                  <a:srgbClr val="B74670"/>
                </a:solidFill>
              </a:rPr>
              <a:t>หน้าจอสาธิตใช้ข้อมูลจำลองและยังอยู่ระหว่างพัฒนา</a:t>
            </a:r>
            <a:endParaRPr sz="1600" b="1" dirty="0">
              <a:solidFill>
                <a:srgbClr val="B7467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EBF791-5F31-37DA-346C-2B9E0F972378}"/>
              </a:ext>
            </a:extLst>
          </p:cNvPr>
          <p:cNvSpPr>
            <a:spLocks noGrp="1"/>
          </p:cNvSpPr>
          <p:nvPr/>
        </p:nvSpPr>
        <p:spPr>
          <a:xfrm>
            <a:off x="9239250" y="6581775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86D72"/>
                </a:solidFill>
              </a:defRPr>
            </a:pPr>
            <a:r>
              <a:rPr sz="825" b="0" dirty="0">
                <a:solidFill>
                  <a:srgbClr val="786D72"/>
                </a:solidFill>
              </a:rPr>
              <a:t>1</a:t>
            </a:r>
            <a:r>
              <a:rPr lang="en-US" sz="825" b="0" dirty="0">
                <a:solidFill>
                  <a:srgbClr val="786D72"/>
                </a:solidFill>
              </a:rPr>
              <a:t>8</a:t>
            </a:r>
            <a:r>
              <a:rPr sz="825" b="0" dirty="0">
                <a:solidFill>
                  <a:srgbClr val="786D72"/>
                </a:solidFill>
              </a:rPr>
              <a:t> </a:t>
            </a:r>
            <a:r>
              <a:rPr sz="825" b="0" dirty="0" err="1">
                <a:solidFill>
                  <a:srgbClr val="786D72"/>
                </a:solidFill>
              </a:rPr>
              <a:t>สิงหาคม</a:t>
            </a:r>
            <a:r>
              <a:rPr sz="825" b="0" dirty="0">
                <a:solidFill>
                  <a:srgbClr val="786D72"/>
                </a:solidFill>
              </a:rPr>
              <a:t> 2569 </a:t>
            </a:r>
          </a:p>
        </p:txBody>
      </p:sp>
    </p:spTree>
    <p:extLst>
      <p:ext uri="{BB962C8B-B14F-4D97-AF65-F5344CB8AC3E}">
        <p14:creationId xmlns:p14="http://schemas.microsoft.com/office/powerpoint/2010/main" val="523971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AC73C98-AE4A-9B5F-3C2A-04937E6095F2}"/>
              </a:ext>
            </a:extLst>
          </p:cNvPr>
          <p:cNvSpPr>
            <a:spLocks noGrp="1"/>
          </p:cNvSpPr>
          <p:nvPr/>
        </p:nvSpPr>
        <p:spPr>
          <a:xfrm>
            <a:off x="533400" y="3695700"/>
            <a:ext cx="11125200" cy="781050"/>
          </a:xfrm>
          <a:prstGeom prst="roundRect">
            <a:avLst>
              <a:gd name="adj" fmla="val 19512"/>
            </a:avLst>
          </a:prstGeom>
          <a:solidFill>
            <a:srgbClr val="FCF8FA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E283C8-DD33-4FF4-BF26-9DB17030B7C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74670"/>
                </a:solidFill>
              </a:defRPr>
            </a:pPr>
            <a:r>
              <a:rPr sz="975" b="1" dirty="0">
                <a:solidFill>
                  <a:srgbClr val="B74670"/>
                </a:solidFill>
              </a:rPr>
              <a:t>TOR PROGRESS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7E5864-930E-4C3C-BB32-6FAADE00DCD8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D2428"/>
                </a:solidFill>
              </a:defRPr>
            </a:pPr>
            <a:r>
              <a:rPr sz="2850" b="1" dirty="0" err="1">
                <a:solidFill>
                  <a:srgbClr val="2D2428"/>
                </a:solidFill>
              </a:rPr>
              <a:t>ความก้าวหน้าตามขอบเขต</a:t>
            </a:r>
            <a:r>
              <a:rPr sz="2850" b="1" dirty="0">
                <a:solidFill>
                  <a:srgbClr val="2D2428"/>
                </a:solidFill>
              </a:rPr>
              <a:t> 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A8A97-CB96-4516-9909-44013C80EB00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37B44F-0D64-4188-AC7E-5F1869147355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86D72"/>
                </a:solidFill>
              </a:defRPr>
            </a:pPr>
            <a:r>
              <a:rPr sz="825" b="0">
                <a:solidFill>
                  <a:srgbClr val="786D72"/>
                </a:solidFill>
              </a:rPr>
              <a:t>รายงานความก้าวหน้าต้นแบบระบบประเมินความเสี่ยงหกล้ม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8ACF5D-4B9F-4D8A-A861-555638ED8CB0}"/>
              </a:ext>
            </a:extLst>
          </p:cNvPr>
          <p:cNvSpPr>
            <a:spLocks noGrp="1"/>
          </p:cNvSpPr>
          <p:nvPr/>
        </p:nvSpPr>
        <p:spPr>
          <a:xfrm>
            <a:off x="9239250" y="6581775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86D72"/>
                </a:solidFill>
              </a:defRPr>
            </a:pPr>
            <a:r>
              <a:rPr sz="825" b="0" dirty="0">
                <a:solidFill>
                  <a:srgbClr val="786D72"/>
                </a:solidFill>
              </a:rPr>
              <a:t>1</a:t>
            </a:r>
            <a:r>
              <a:rPr lang="en-US" sz="825" b="0" dirty="0">
                <a:solidFill>
                  <a:srgbClr val="786D72"/>
                </a:solidFill>
              </a:rPr>
              <a:t>8</a:t>
            </a:r>
            <a:r>
              <a:rPr sz="825" b="0" dirty="0">
                <a:solidFill>
                  <a:srgbClr val="786D72"/>
                </a:solidFill>
              </a:rPr>
              <a:t> </a:t>
            </a:r>
            <a:r>
              <a:rPr sz="825" b="0" dirty="0" err="1">
                <a:solidFill>
                  <a:srgbClr val="786D72"/>
                </a:solidFill>
              </a:rPr>
              <a:t>สิงหาคม</a:t>
            </a:r>
            <a:r>
              <a:rPr sz="825" b="0" dirty="0">
                <a:solidFill>
                  <a:srgbClr val="786D72"/>
                </a:solidFill>
              </a:rPr>
              <a:t> 2569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AC00FA-28C9-4C2F-98D9-CED6C451CAE2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786D72"/>
                </a:solidFill>
              </a:defRPr>
            </a:pPr>
            <a:r>
              <a:rPr sz="2000" b="0" dirty="0" err="1">
                <a:solidFill>
                  <a:srgbClr val="786D72"/>
                </a:solidFill>
              </a:rPr>
              <a:t>โฟกัสรอบปัจจุบันอยู่ที่ต้นแบบกล้อง</a:t>
            </a:r>
            <a:r>
              <a:rPr sz="2000" b="0" dirty="0">
                <a:solidFill>
                  <a:srgbClr val="786D72"/>
                </a:solidFill>
              </a:rPr>
              <a:t> AI </a:t>
            </a:r>
            <a:r>
              <a:rPr sz="2000" b="0" dirty="0" err="1">
                <a:solidFill>
                  <a:srgbClr val="786D72"/>
                </a:solidFill>
              </a:rPr>
              <a:t>และ</a:t>
            </a:r>
            <a:r>
              <a:rPr sz="2000" b="0" dirty="0">
                <a:solidFill>
                  <a:srgbClr val="786D72"/>
                </a:solidFill>
              </a:rPr>
              <a:t> Software UI Mockup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958DEB-8599-4307-9C48-DCA5A0EF784F}"/>
              </a:ext>
            </a:extLst>
          </p:cNvPr>
          <p:cNvSpPr>
            <a:spLocks noGrp="1"/>
          </p:cNvSpPr>
          <p:nvPr/>
        </p:nvSpPr>
        <p:spPr>
          <a:xfrm>
            <a:off x="533400" y="1695450"/>
            <a:ext cx="11125200" cy="781050"/>
          </a:xfrm>
          <a:prstGeom prst="roundRect">
            <a:avLst>
              <a:gd name="adj" fmla="val 19512"/>
            </a:avLst>
          </a:prstGeom>
          <a:solidFill>
            <a:srgbClr val="FCF8FA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4E6105-6C35-443F-9E17-BFD93FB7B54B}"/>
              </a:ext>
            </a:extLst>
          </p:cNvPr>
          <p:cNvSpPr>
            <a:spLocks noGrp="1"/>
          </p:cNvSpPr>
          <p:nvPr/>
        </p:nvSpPr>
        <p:spPr>
          <a:xfrm>
            <a:off x="742950" y="18573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B5FFB6-F75A-478F-A262-633811BA2086}"/>
              </a:ext>
            </a:extLst>
          </p:cNvPr>
          <p:cNvSpPr>
            <a:spLocks noGrp="1"/>
          </p:cNvSpPr>
          <p:nvPr/>
        </p:nvSpPr>
        <p:spPr>
          <a:xfrm>
            <a:off x="742950" y="1928697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30D0A7-40A5-4682-85E5-1AEEC5950A15}"/>
              </a:ext>
            </a:extLst>
          </p:cNvPr>
          <p:cNvSpPr>
            <a:spLocks noGrp="1"/>
          </p:cNvSpPr>
          <p:nvPr/>
        </p:nvSpPr>
        <p:spPr>
          <a:xfrm>
            <a:off x="1428750" y="1876425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D2428"/>
                </a:solidFill>
              </a:defRPr>
            </a:pPr>
            <a:r>
              <a:rPr sz="1575" b="1">
                <a:solidFill>
                  <a:srgbClr val="2D2428"/>
                </a:solidFill>
              </a:rPr>
              <a:t>ออกแบบและสร้างต้นแบบระบบกล้อง</a:t>
            </a:r>
            <a:r>
              <a:rPr sz="1575" b="1" dirty="0">
                <a:solidFill>
                  <a:srgbClr val="2D2428"/>
                </a:solidFill>
              </a:rPr>
              <a:t> AI </a:t>
            </a:r>
            <a:r>
              <a:rPr sz="1575" b="1" dirty="0" err="1">
                <a:solidFill>
                  <a:srgbClr val="2D2428"/>
                </a:solidFill>
              </a:rPr>
              <a:t>พร้อมแนวทาง</a:t>
            </a:r>
            <a:r>
              <a:rPr sz="1575" b="1" dirty="0">
                <a:solidFill>
                  <a:srgbClr val="2D2428"/>
                </a:solidFill>
              </a:rPr>
              <a:t> Tracking Motor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D0BE2C5-D8BF-4F5C-8855-6FBFFAC21BA8}"/>
              </a:ext>
            </a:extLst>
          </p:cNvPr>
          <p:cNvSpPr>
            <a:spLocks noGrp="1"/>
          </p:cNvSpPr>
          <p:nvPr/>
        </p:nvSpPr>
        <p:spPr>
          <a:xfrm>
            <a:off x="9696450" y="1933575"/>
            <a:ext cx="1562100" cy="30480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2D23E0-C530-4A76-A301-5377A16620CE}"/>
              </a:ext>
            </a:extLst>
          </p:cNvPr>
          <p:cNvSpPr>
            <a:spLocks noGrp="1"/>
          </p:cNvSpPr>
          <p:nvPr/>
        </p:nvSpPr>
        <p:spPr>
          <a:xfrm>
            <a:off x="9763125" y="1953260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B74670"/>
                </a:solidFill>
              </a:defRPr>
            </a:pPr>
            <a:r>
              <a:rPr sz="1500" b="1" dirty="0" err="1">
                <a:solidFill>
                  <a:srgbClr val="B74670"/>
                </a:solidFill>
              </a:rPr>
              <a:t>กำลังดำเนินการ</a:t>
            </a:r>
            <a:endParaRPr sz="1500" b="1" dirty="0">
              <a:solidFill>
                <a:srgbClr val="B74670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4995A3-035B-4941-9563-55C58AF4FFB9}"/>
              </a:ext>
            </a:extLst>
          </p:cNvPr>
          <p:cNvSpPr>
            <a:spLocks noGrp="1"/>
          </p:cNvSpPr>
          <p:nvPr/>
        </p:nvSpPr>
        <p:spPr>
          <a:xfrm>
            <a:off x="533400" y="2695575"/>
            <a:ext cx="111252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5FB2F03-4E91-4C00-BD56-4D535093B30A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A2F177-2336-48FA-8122-E0D4284EDFD0}"/>
              </a:ext>
            </a:extLst>
          </p:cNvPr>
          <p:cNvSpPr>
            <a:spLocks noGrp="1"/>
          </p:cNvSpPr>
          <p:nvPr/>
        </p:nvSpPr>
        <p:spPr>
          <a:xfrm>
            <a:off x="742950" y="2928822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B74670"/>
                </a:solidFill>
              </a:defRPr>
            </a:pPr>
            <a:r>
              <a:rPr sz="1575" b="1">
                <a:solidFill>
                  <a:srgbClr val="B74670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C7703B-5868-460B-A59C-F2E725EA0896}"/>
              </a:ext>
            </a:extLst>
          </p:cNvPr>
          <p:cNvSpPr>
            <a:spLocks noGrp="1"/>
          </p:cNvSpPr>
          <p:nvPr/>
        </p:nvSpPr>
        <p:spPr>
          <a:xfrm>
            <a:off x="1428750" y="2886075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D2428"/>
                </a:solidFill>
              </a:defRPr>
            </a:pPr>
            <a:r>
              <a:rPr sz="1575" b="1" dirty="0" err="1">
                <a:solidFill>
                  <a:srgbClr val="2D2428"/>
                </a:solidFill>
              </a:rPr>
              <a:t>ออกแบบโครงสร้างการทำงานเบื้องต้นของเซ็นเซอร์แผ่นวัดแรงกด</a:t>
            </a:r>
            <a:endParaRPr sz="1575" b="1" dirty="0">
              <a:solidFill>
                <a:srgbClr val="2D2428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5349DE9-A5EC-46B2-84ED-86FADF9C65FE}"/>
              </a:ext>
            </a:extLst>
          </p:cNvPr>
          <p:cNvSpPr>
            <a:spLocks noGrp="1"/>
          </p:cNvSpPr>
          <p:nvPr/>
        </p:nvSpPr>
        <p:spPr>
          <a:xfrm>
            <a:off x="9696450" y="2933700"/>
            <a:ext cx="1562100" cy="304800"/>
          </a:xfrm>
          <a:prstGeom prst="roundRect">
            <a:avLst>
              <a:gd name="adj" fmla="val 50000"/>
            </a:avLst>
          </a:prstGeom>
          <a:solidFill>
            <a:srgbClr val="FFF1D8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B6C6AE-FF4A-4049-A2EE-EA7425728D27}"/>
              </a:ext>
            </a:extLst>
          </p:cNvPr>
          <p:cNvSpPr>
            <a:spLocks noGrp="1"/>
          </p:cNvSpPr>
          <p:nvPr/>
        </p:nvSpPr>
        <p:spPr>
          <a:xfrm>
            <a:off x="9791700" y="2933700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A76409"/>
                </a:solidFill>
              </a:defRPr>
            </a:pPr>
            <a:r>
              <a:rPr sz="1500" b="1" dirty="0" err="1">
                <a:solidFill>
                  <a:srgbClr val="A76409"/>
                </a:solidFill>
              </a:rPr>
              <a:t>ลำดับถัดไป</a:t>
            </a:r>
            <a:endParaRPr sz="1500" b="1" dirty="0">
              <a:solidFill>
                <a:srgbClr val="A76409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52291CF-3B1B-4B36-8210-4F88F5DA3282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224397-24C9-4992-80F4-6A289DDCA8C9}"/>
              </a:ext>
            </a:extLst>
          </p:cNvPr>
          <p:cNvSpPr>
            <a:spLocks noGrp="1"/>
          </p:cNvSpPr>
          <p:nvPr/>
        </p:nvSpPr>
        <p:spPr>
          <a:xfrm>
            <a:off x="742950" y="3928947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B74670"/>
                </a:solidFill>
              </a:defRPr>
            </a:pPr>
            <a:r>
              <a:rPr sz="1575" b="1">
                <a:solidFill>
                  <a:srgbClr val="B74670"/>
                </a:solidFill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6B7334-FA35-4B87-A10D-F728F4E6422B}"/>
              </a:ext>
            </a:extLst>
          </p:cNvPr>
          <p:cNvSpPr>
            <a:spLocks noGrp="1"/>
          </p:cNvSpPr>
          <p:nvPr/>
        </p:nvSpPr>
        <p:spPr>
          <a:xfrm>
            <a:off x="1428750" y="3927475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D2428"/>
                </a:solidFill>
              </a:defRPr>
            </a:pPr>
            <a:r>
              <a:rPr sz="1575" b="1" dirty="0">
                <a:solidFill>
                  <a:srgbClr val="2D2428"/>
                </a:solidFill>
              </a:rPr>
              <a:t>Initial Testing </a:t>
            </a:r>
            <a:r>
              <a:rPr sz="1575" b="1" dirty="0" err="1">
                <a:solidFill>
                  <a:srgbClr val="2D2428"/>
                </a:solidFill>
              </a:rPr>
              <a:t>และ</a:t>
            </a:r>
            <a:r>
              <a:rPr sz="1575" b="1" dirty="0">
                <a:solidFill>
                  <a:srgbClr val="2D2428"/>
                </a:solidFill>
              </a:rPr>
              <a:t> Calibration </a:t>
            </a:r>
            <a:r>
              <a:rPr sz="1575" b="1" dirty="0" err="1">
                <a:solidFill>
                  <a:srgbClr val="2D2428"/>
                </a:solidFill>
              </a:rPr>
              <a:t>ของกล้อง</a:t>
            </a:r>
            <a:r>
              <a:rPr sz="1575" b="1" dirty="0">
                <a:solidFill>
                  <a:srgbClr val="2D2428"/>
                </a:solidFill>
              </a:rPr>
              <a:t> AI </a:t>
            </a:r>
            <a:r>
              <a:rPr sz="1575" b="1" dirty="0" err="1">
                <a:solidFill>
                  <a:srgbClr val="2D2428"/>
                </a:solidFill>
              </a:rPr>
              <a:t>และเซ็นเซอร์แรงกด</a:t>
            </a:r>
            <a:endParaRPr sz="1575" b="1" dirty="0">
              <a:solidFill>
                <a:srgbClr val="2D2428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424F804-D146-4213-B1DC-9E9953CC8BE7}"/>
              </a:ext>
            </a:extLst>
          </p:cNvPr>
          <p:cNvSpPr>
            <a:spLocks noGrp="1"/>
          </p:cNvSpPr>
          <p:nvPr/>
        </p:nvSpPr>
        <p:spPr>
          <a:xfrm>
            <a:off x="533400" y="4695825"/>
            <a:ext cx="11125200" cy="781050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8BC4B66-D6FD-49F0-9332-2C4DB3D778D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FCFB56-711B-44A4-894D-DD5E29FABEE3}"/>
              </a:ext>
            </a:extLst>
          </p:cNvPr>
          <p:cNvSpPr>
            <a:spLocks noGrp="1"/>
          </p:cNvSpPr>
          <p:nvPr/>
        </p:nvSpPr>
        <p:spPr>
          <a:xfrm>
            <a:off x="742950" y="4929072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B74670"/>
                </a:solidFill>
              </a:defRPr>
            </a:pPr>
            <a:r>
              <a:rPr sz="1575" b="1">
                <a:solidFill>
                  <a:srgbClr val="B74670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C76F59-DE96-4F33-B13B-69D8A0659E75}"/>
              </a:ext>
            </a:extLst>
          </p:cNvPr>
          <p:cNvSpPr>
            <a:spLocks noGrp="1"/>
          </p:cNvSpPr>
          <p:nvPr/>
        </p:nvSpPr>
        <p:spPr>
          <a:xfrm>
            <a:off x="1428750" y="4876800"/>
            <a:ext cx="6858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D2428"/>
                </a:solidFill>
              </a:defRPr>
            </a:pPr>
            <a:r>
              <a:rPr sz="1575" b="1">
                <a:solidFill>
                  <a:srgbClr val="2D2428"/>
                </a:solidFill>
              </a:rPr>
              <a:t>รวบรวมข้อมูลทางเทคนิคและปัญหา เพื่อสรุปผลและเตรียมบูรณาการ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F36005B-D68E-7CB9-C1E5-17EAAE1AE19B}"/>
              </a:ext>
            </a:extLst>
          </p:cNvPr>
          <p:cNvSpPr>
            <a:spLocks noGrp="1"/>
          </p:cNvSpPr>
          <p:nvPr/>
        </p:nvSpPr>
        <p:spPr>
          <a:xfrm>
            <a:off x="9696450" y="3918764"/>
            <a:ext cx="1562100" cy="30480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D484C9C-E177-41C2-B91F-58C8CDBCA610}"/>
              </a:ext>
            </a:extLst>
          </p:cNvPr>
          <p:cNvSpPr>
            <a:spLocks noGrp="1"/>
          </p:cNvSpPr>
          <p:nvPr/>
        </p:nvSpPr>
        <p:spPr>
          <a:xfrm>
            <a:off x="9696450" y="4933950"/>
            <a:ext cx="1562100" cy="304800"/>
          </a:xfrm>
          <a:prstGeom prst="roundRect">
            <a:avLst>
              <a:gd name="adj" fmla="val 50000"/>
            </a:avLst>
          </a:prstGeom>
          <a:solidFill>
            <a:srgbClr val="FFF1D8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1F8865-B102-4FBD-8BBC-866A5C8906F1}"/>
              </a:ext>
            </a:extLst>
          </p:cNvPr>
          <p:cNvSpPr>
            <a:spLocks noGrp="1"/>
          </p:cNvSpPr>
          <p:nvPr/>
        </p:nvSpPr>
        <p:spPr>
          <a:xfrm>
            <a:off x="9763125" y="4899025"/>
            <a:ext cx="1371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A76409"/>
                </a:solidFill>
              </a:defRPr>
            </a:pPr>
            <a:r>
              <a:rPr sz="1500" b="1" dirty="0" err="1">
                <a:solidFill>
                  <a:srgbClr val="A76409"/>
                </a:solidFill>
              </a:rPr>
              <a:t>รอผลทดสอบ</a:t>
            </a:r>
            <a:endParaRPr sz="1500" b="1" dirty="0">
              <a:solidFill>
                <a:srgbClr val="A76409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52B109-1790-4490-BE6E-8D1DFCF1A945}"/>
              </a:ext>
            </a:extLst>
          </p:cNvPr>
          <p:cNvSpPr>
            <a:spLocks noGrp="1"/>
          </p:cNvSpPr>
          <p:nvPr/>
        </p:nvSpPr>
        <p:spPr>
          <a:xfrm>
            <a:off x="9791700" y="3918764"/>
            <a:ext cx="1302834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A76409"/>
                </a:solidFill>
              </a:defRPr>
            </a:pPr>
            <a:r>
              <a:rPr sz="1500" b="1" dirty="0" err="1">
                <a:solidFill>
                  <a:srgbClr val="A76409"/>
                </a:solidFill>
              </a:rPr>
              <a:t>หลังประกอบกล้อง</a:t>
            </a:r>
            <a:endParaRPr sz="1500" b="1" dirty="0">
              <a:solidFill>
                <a:srgbClr val="A764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70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3A6D15-0D05-70B3-F6D5-65C675D5A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94" r="-274" b="9293"/>
          <a:stretch>
            <a:fillRect/>
          </a:stretch>
        </p:blipFill>
        <p:spPr>
          <a:xfrm>
            <a:off x="6731022" y="2004062"/>
            <a:ext cx="3589317" cy="3383275"/>
          </a:xfrm>
          <a:prstGeom prst="rect">
            <a:avLst/>
          </a:prstGeom>
        </p:spPr>
      </p:pic>
      <p:pic>
        <p:nvPicPr>
          <p:cNvPr id="4" name="image2.png">
            <a:extLst>
              <a:ext uri="{FF2B5EF4-FFF2-40B4-BE49-F238E27FC236}">
                <a16:creationId xmlns:a16="http://schemas.microsoft.com/office/drawing/2014/main" id="{4972F7BC-793B-7097-DD6A-FC5335D43D9F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871661" y="1395412"/>
            <a:ext cx="4676775" cy="2447925"/>
          </a:xfrm>
          <a:prstGeom prst="rect">
            <a:avLst/>
          </a:prstGeom>
          <a:ln/>
        </p:spPr>
      </p:pic>
      <p:pic>
        <p:nvPicPr>
          <p:cNvPr id="5" name="image4.png">
            <a:extLst>
              <a:ext uri="{FF2B5EF4-FFF2-40B4-BE49-F238E27FC236}">
                <a16:creationId xmlns:a16="http://schemas.microsoft.com/office/drawing/2014/main" id="{2C12066F-89E1-3D48-21A5-FD24F6875C5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071687" y="4030024"/>
            <a:ext cx="4276725" cy="2181225"/>
          </a:xfrm>
          <a:prstGeom prst="rect">
            <a:avLst/>
          </a:prstGeom>
          <a:ln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A334A1-B04E-4590-C391-6C85BB6BF1C6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2D2428"/>
                </a:solidFill>
              </a:defRPr>
            </a:pPr>
            <a:r>
              <a:rPr lang="th-TH" sz="2850" b="1" dirty="0">
                <a:solidFill>
                  <a:srgbClr val="2D2428"/>
                </a:solidFill>
              </a:rPr>
              <a:t>การออกแบบ</a:t>
            </a:r>
            <a:r>
              <a:rPr sz="2850" b="1" dirty="0" err="1">
                <a:solidFill>
                  <a:srgbClr val="2D2428"/>
                </a:solidFill>
              </a:rPr>
              <a:t>กล้อง</a:t>
            </a:r>
            <a:r>
              <a:rPr sz="2850" b="1" dirty="0">
                <a:solidFill>
                  <a:srgbClr val="2D2428"/>
                </a:solidFill>
              </a:rPr>
              <a:t> AI </a:t>
            </a:r>
            <a:r>
              <a:rPr sz="2850" b="1" dirty="0" err="1">
                <a:solidFill>
                  <a:srgbClr val="2D2428"/>
                </a:solidFill>
              </a:rPr>
              <a:t>เพื่อสนับสนุนการติดตามการเคลื่อนไหว</a:t>
            </a:r>
            <a:r>
              <a:rPr lang="th-TH" sz="2850" b="1" dirty="0">
                <a:solidFill>
                  <a:srgbClr val="2D2428"/>
                </a:solidFill>
              </a:rPr>
              <a:t> ในช่วงต้น</a:t>
            </a:r>
            <a:endParaRPr sz="2850" b="1" dirty="0">
              <a:solidFill>
                <a:srgbClr val="2D24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9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95B5EF6-D00B-48CE-8976-2FC252D2201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74670"/>
                </a:solidFill>
              </a:defRPr>
            </a:pPr>
            <a:r>
              <a:rPr sz="975" b="1">
                <a:solidFill>
                  <a:srgbClr val="B74670"/>
                </a:solidFill>
              </a:rPr>
              <a:t>AI CAMERA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AC09FC-0C79-490A-A46A-D62D82201678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D2428"/>
                </a:solidFill>
              </a:defRPr>
            </a:pPr>
            <a:r>
              <a:rPr sz="2850" b="1" dirty="0" err="1">
                <a:solidFill>
                  <a:srgbClr val="2D2428"/>
                </a:solidFill>
              </a:rPr>
              <a:t>กล้อง</a:t>
            </a:r>
            <a:r>
              <a:rPr sz="2850" b="1" dirty="0">
                <a:solidFill>
                  <a:srgbClr val="2D2428"/>
                </a:solidFill>
              </a:rPr>
              <a:t> AI </a:t>
            </a:r>
            <a:r>
              <a:rPr sz="2850" b="1" dirty="0" err="1">
                <a:solidFill>
                  <a:srgbClr val="2D2428"/>
                </a:solidFill>
              </a:rPr>
              <a:t>ออกแบบเพื่อสนับสนุนการติดตามการเคลื่อนไหว</a:t>
            </a:r>
            <a:endParaRPr sz="2850" b="1" dirty="0">
              <a:solidFill>
                <a:srgbClr val="2D2428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2AF397-F152-4431-9C60-B95726C6D0F7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8256BF-B805-46E7-9205-DCD5603681E1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86D72"/>
                </a:solidFill>
              </a:defRPr>
            </a:pPr>
            <a:r>
              <a:rPr sz="825" b="0">
                <a:solidFill>
                  <a:srgbClr val="786D72"/>
                </a:solidFill>
              </a:rPr>
              <a:t>รายงานความก้าวหน้าต้นแบบระบบประเมินความเสี่ยงหกล้ม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2C4B73-45DE-4B0A-B829-2C54A60A911D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5810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786D72"/>
                </a:solidFill>
              </a:defRPr>
            </a:pPr>
            <a:r>
              <a:rPr sz="1575" b="0" dirty="0">
                <a:solidFill>
                  <a:srgbClr val="786D72"/>
                </a:solidFill>
              </a:rPr>
              <a:t>แนวคิดต้นแบบมุ่งเก็บข้อมูลการเคลื่อนไหวและพฤติกรรมการทรงตัวอย่างเป็นระบบ </a:t>
            </a:r>
            <a:r>
              <a:rPr sz="1575" b="0" dirty="0" err="1">
                <a:solidFill>
                  <a:srgbClr val="786D72"/>
                </a:solidFill>
              </a:rPr>
              <a:t>พร้อมใช้ร่วมกับเซ็นเซอร์</a:t>
            </a:r>
            <a:r>
              <a:rPr sz="1575" b="0" dirty="0">
                <a:solidFill>
                  <a:srgbClr val="786D72"/>
                </a:solidFill>
              </a:rPr>
              <a:t> </a:t>
            </a:r>
            <a:r>
              <a:rPr sz="1575" b="0" dirty="0" err="1">
                <a:solidFill>
                  <a:srgbClr val="786D72"/>
                </a:solidFill>
              </a:rPr>
              <a:t>mmWave</a:t>
            </a:r>
            <a:endParaRPr sz="1575" b="0" dirty="0">
              <a:solidFill>
                <a:srgbClr val="786D72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89B4F2F-494D-44B1-9C85-DCF15746B81A}"/>
              </a:ext>
            </a:extLst>
          </p:cNvPr>
          <p:cNvSpPr>
            <a:spLocks noGrp="1"/>
          </p:cNvSpPr>
          <p:nvPr/>
        </p:nvSpPr>
        <p:spPr>
          <a:xfrm>
            <a:off x="533400" y="2114550"/>
            <a:ext cx="4762500" cy="2723197"/>
          </a:xfrm>
          <a:prstGeom prst="roundRect">
            <a:avLst>
              <a:gd name="adj" fmla="val 6832"/>
            </a:avLst>
          </a:prstGeom>
          <a:solidFill>
            <a:srgbClr val="FCF8FA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8CFF22-CD85-4BFC-AFD6-F20BB594C02F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ABE8D9-5DA6-4D0F-8B0C-763FA8965E6A}"/>
              </a:ext>
            </a:extLst>
          </p:cNvPr>
          <p:cNvSpPr>
            <a:spLocks noGrp="1"/>
          </p:cNvSpPr>
          <p:nvPr/>
        </p:nvSpPr>
        <p:spPr>
          <a:xfrm>
            <a:off x="781050" y="246697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C60D88-DEBE-42C3-B5DA-9DEEC2F2DA4C}"/>
              </a:ext>
            </a:extLst>
          </p:cNvPr>
          <p:cNvSpPr>
            <a:spLocks noGrp="1"/>
          </p:cNvSpPr>
          <p:nvPr/>
        </p:nvSpPr>
        <p:spPr>
          <a:xfrm>
            <a:off x="1066800" y="2401253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86D72"/>
                </a:solidFill>
              </a:defRPr>
            </a:pPr>
            <a:r>
              <a:rPr sz="1600" b="0" dirty="0" err="1">
                <a:solidFill>
                  <a:srgbClr val="786D72"/>
                </a:solidFill>
              </a:rPr>
              <a:t>กล้องช่วยบันทึกภาพและบริบทของท่าทางระหว่างการประเมิน</a:t>
            </a:r>
            <a:endParaRPr sz="1600" b="0" dirty="0">
              <a:solidFill>
                <a:srgbClr val="786D72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BCD4E6-7B52-4ACF-8457-E6A443B4B3DE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C1561C-150D-40C9-83AC-822F40770E19}"/>
              </a:ext>
            </a:extLst>
          </p:cNvPr>
          <p:cNvSpPr>
            <a:spLocks noGrp="1"/>
          </p:cNvSpPr>
          <p:nvPr/>
        </p:nvSpPr>
        <p:spPr>
          <a:xfrm>
            <a:off x="781050" y="3295650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77DB98-1CCF-4087-8073-E6875A64DA2D}"/>
              </a:ext>
            </a:extLst>
          </p:cNvPr>
          <p:cNvSpPr>
            <a:spLocks noGrp="1"/>
          </p:cNvSpPr>
          <p:nvPr/>
        </p:nvSpPr>
        <p:spPr>
          <a:xfrm>
            <a:off x="1066800" y="3171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86D72"/>
                </a:solidFill>
              </a:defRPr>
            </a:pPr>
            <a:r>
              <a:rPr sz="1600" b="0" dirty="0" err="1">
                <a:solidFill>
                  <a:srgbClr val="786D72"/>
                </a:solidFill>
              </a:rPr>
              <a:t>ผสานข้อมูลภาพกับ</a:t>
            </a:r>
            <a:r>
              <a:rPr sz="1600" b="0" dirty="0">
                <a:solidFill>
                  <a:srgbClr val="786D72"/>
                </a:solidFill>
              </a:rPr>
              <a:t> </a:t>
            </a:r>
            <a:r>
              <a:rPr sz="1600" b="0" dirty="0" err="1">
                <a:solidFill>
                  <a:srgbClr val="786D72"/>
                </a:solidFill>
              </a:rPr>
              <a:t>mmWave</a:t>
            </a:r>
            <a:r>
              <a:rPr sz="1600" b="0" dirty="0">
                <a:solidFill>
                  <a:srgbClr val="786D72"/>
                </a:solidFill>
              </a:rPr>
              <a:t> </a:t>
            </a:r>
            <a:r>
              <a:rPr sz="1600" b="0" dirty="0" err="1">
                <a:solidFill>
                  <a:srgbClr val="786D72"/>
                </a:solidFill>
              </a:rPr>
              <a:t>เพื่อสนับสนุนการวิเคราะห์การเคลื่อนไหว</a:t>
            </a:r>
            <a:endParaRPr sz="1600" b="0" dirty="0">
              <a:solidFill>
                <a:srgbClr val="786D72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752E673-0D31-44A5-B8B2-BBA164085EE8}"/>
              </a:ext>
            </a:extLst>
          </p:cNvPr>
          <p:cNvSpPr>
            <a:spLocks noGrp="1"/>
          </p:cNvSpPr>
          <p:nvPr/>
        </p:nvSpPr>
        <p:spPr>
          <a:xfrm>
            <a:off x="781050" y="4067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B0596A-4B8F-4C7D-AE08-ECD0A25D09DB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08BCBA-8B2C-420D-9674-A488DA57C7FA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86D72"/>
                </a:solidFill>
              </a:defRPr>
            </a:pPr>
            <a:r>
              <a:rPr sz="1600" b="0" dirty="0" err="1">
                <a:solidFill>
                  <a:srgbClr val="786D72"/>
                </a:solidFill>
              </a:rPr>
              <a:t>ออกแบบให้ข้อมูลภาพใช้เพื่อวิเคราะห์การเคลื่อนไหว</a:t>
            </a:r>
            <a:r>
              <a:rPr sz="1600" b="0" dirty="0">
                <a:solidFill>
                  <a:srgbClr val="786D72"/>
                </a:solidFill>
              </a:rPr>
              <a:t> </a:t>
            </a:r>
            <a:r>
              <a:rPr sz="1600" b="0" dirty="0" err="1">
                <a:solidFill>
                  <a:srgbClr val="786D72"/>
                </a:solidFill>
              </a:rPr>
              <a:t>ไม่เน้นการระบุตัวบุคคล</a:t>
            </a:r>
            <a:endParaRPr sz="1600" b="0" dirty="0">
              <a:solidFill>
                <a:srgbClr val="786D72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ECCDFDE-B4B5-4EC0-9A22-5464F0910B92}"/>
              </a:ext>
            </a:extLst>
          </p:cNvPr>
          <p:cNvSpPr>
            <a:spLocks noGrp="1"/>
          </p:cNvSpPr>
          <p:nvPr/>
        </p:nvSpPr>
        <p:spPr>
          <a:xfrm>
            <a:off x="6553200" y="1476375"/>
            <a:ext cx="4762500" cy="3857625"/>
          </a:xfrm>
          <a:prstGeom prst="roundRect">
            <a:avLst>
              <a:gd name="adj" fmla="val 5926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69958" y="1647825"/>
            <a:ext cx="3928984" cy="3514725"/>
          </a:xfrm>
          <a:prstGeom prst="roundRect">
            <a:avLst>
              <a:gd name="adj" fmla="val 4336"/>
            </a:avLst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551BBCE-B588-48A7-8697-3B7B3056B5B2}"/>
              </a:ext>
            </a:extLst>
          </p:cNvPr>
          <p:cNvSpPr>
            <a:spLocks noGrp="1"/>
          </p:cNvSpPr>
          <p:nvPr/>
        </p:nvSpPr>
        <p:spPr>
          <a:xfrm>
            <a:off x="6972300" y="5457825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B74670"/>
                </a:solidFill>
              </a:defRPr>
            </a:pPr>
            <a:r>
              <a:rPr sz="1050" b="1" dirty="0">
                <a:solidFill>
                  <a:srgbClr val="B74670"/>
                </a:solidFill>
              </a:rPr>
              <a:t>CAD concept • AI Camera Module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CD4D64-7759-588F-A57A-8C49250D375F}"/>
              </a:ext>
            </a:extLst>
          </p:cNvPr>
          <p:cNvSpPr>
            <a:spLocks noGrp="1"/>
          </p:cNvSpPr>
          <p:nvPr/>
        </p:nvSpPr>
        <p:spPr>
          <a:xfrm>
            <a:off x="9239250" y="6581775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86D72"/>
                </a:solidFill>
              </a:defRPr>
            </a:pPr>
            <a:r>
              <a:rPr sz="825" b="0" dirty="0">
                <a:solidFill>
                  <a:srgbClr val="786D72"/>
                </a:solidFill>
              </a:rPr>
              <a:t>1</a:t>
            </a:r>
            <a:r>
              <a:rPr lang="en-US" sz="825" b="0" dirty="0">
                <a:solidFill>
                  <a:srgbClr val="786D72"/>
                </a:solidFill>
              </a:rPr>
              <a:t>8</a:t>
            </a:r>
            <a:r>
              <a:rPr sz="825" b="0" dirty="0">
                <a:solidFill>
                  <a:srgbClr val="786D72"/>
                </a:solidFill>
              </a:rPr>
              <a:t> </a:t>
            </a:r>
            <a:r>
              <a:rPr sz="825" b="0" dirty="0" err="1">
                <a:solidFill>
                  <a:srgbClr val="786D72"/>
                </a:solidFill>
              </a:rPr>
              <a:t>สิงหาคม</a:t>
            </a:r>
            <a:r>
              <a:rPr sz="825" b="0" dirty="0">
                <a:solidFill>
                  <a:srgbClr val="786D72"/>
                </a:solidFill>
              </a:rPr>
              <a:t> 2569 </a:t>
            </a:r>
          </a:p>
        </p:txBody>
      </p:sp>
    </p:spTree>
    <p:extLst>
      <p:ext uri="{BB962C8B-B14F-4D97-AF65-F5344CB8AC3E}">
        <p14:creationId xmlns:p14="http://schemas.microsoft.com/office/powerpoint/2010/main" val="113521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5C016A0-D6D4-4DBD-B9CF-8074A49C4FDA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74670"/>
                </a:solidFill>
              </a:defRPr>
            </a:pPr>
            <a:r>
              <a:rPr sz="975" b="1" dirty="0">
                <a:solidFill>
                  <a:srgbClr val="B74670"/>
                </a:solidFill>
              </a:rPr>
              <a:t>CAMERA SUBSYSTEM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A32DE3-2D17-4C46-9A8A-B7C60BE204C1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D2428"/>
                </a:solidFill>
              </a:defRPr>
            </a:pPr>
            <a:r>
              <a:rPr sz="2850" b="1" dirty="0" err="1">
                <a:solidFill>
                  <a:srgbClr val="2D2428"/>
                </a:solidFill>
              </a:rPr>
              <a:t>องค์ประกอบหลักของต้นแบบ</a:t>
            </a:r>
            <a:r>
              <a:rPr sz="2850" b="1" dirty="0">
                <a:solidFill>
                  <a:srgbClr val="2D2428"/>
                </a:solidFill>
              </a:rPr>
              <a:t> Camera Module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E14875-8C74-4EFD-8DA8-85F351778767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FE98A-E06A-42B6-9081-CF8ED5677C11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86D72"/>
                </a:solidFill>
              </a:defRPr>
            </a:pPr>
            <a:r>
              <a:rPr sz="825" b="0">
                <a:solidFill>
                  <a:srgbClr val="786D72"/>
                </a:solidFill>
              </a:rPr>
              <a:t>รายงานความก้าวหน้าต้นแบบระบบประเมินความเสี่ยงหกล้ม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0E5FE4-795B-48FD-85F7-059875482793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786D72"/>
                </a:solidFill>
              </a:defRPr>
            </a:pPr>
            <a:r>
              <a:rPr sz="1500" b="0">
                <a:solidFill>
                  <a:srgbClr val="786D72"/>
                </a:solidFill>
              </a:rPr>
              <a:t>ระบบมุ่งให้การติดตามในห้องประเมินมีความยืดหยุ่น ลดการติดตั้งกล้องหลายตัว และรองรับการทดสอบต้นแบบ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B040940-66A0-455C-8A88-C9A5FCFD3F83}"/>
              </a:ext>
            </a:extLst>
          </p:cNvPr>
          <p:cNvSpPr>
            <a:spLocks noGrp="1"/>
          </p:cNvSpPr>
          <p:nvPr/>
        </p:nvSpPr>
        <p:spPr>
          <a:xfrm>
            <a:off x="5657850" y="1885950"/>
            <a:ext cx="268605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E469E6-9743-4B6D-9D0B-A66A62913E3B}"/>
              </a:ext>
            </a:extLst>
          </p:cNvPr>
          <p:cNvSpPr>
            <a:spLocks noGrp="1"/>
          </p:cNvSpPr>
          <p:nvPr/>
        </p:nvSpPr>
        <p:spPr>
          <a:xfrm>
            <a:off x="5848350" y="20859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6FC9D5-015F-418E-94C1-1C734883C215}"/>
              </a:ext>
            </a:extLst>
          </p:cNvPr>
          <p:cNvSpPr>
            <a:spLocks noGrp="1"/>
          </p:cNvSpPr>
          <p:nvPr/>
        </p:nvSpPr>
        <p:spPr>
          <a:xfrm>
            <a:off x="5848350" y="2190750"/>
            <a:ext cx="4000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74670"/>
                </a:solidFill>
              </a:defRPr>
            </a:pPr>
            <a:r>
              <a:rPr sz="1125" b="1">
                <a:solidFill>
                  <a:srgbClr val="B74670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4EF69-53FB-4385-9AA3-4B5DE5E7DA6D}"/>
              </a:ext>
            </a:extLst>
          </p:cNvPr>
          <p:cNvSpPr>
            <a:spLocks noGrp="1"/>
          </p:cNvSpPr>
          <p:nvPr/>
        </p:nvSpPr>
        <p:spPr>
          <a:xfrm>
            <a:off x="6281621" y="2139059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2428"/>
                </a:solidFill>
              </a:defRPr>
            </a:pPr>
            <a:r>
              <a:rPr sz="1500" b="1" dirty="0" err="1">
                <a:solidFill>
                  <a:srgbClr val="2D2428"/>
                </a:solidFill>
              </a:rPr>
              <a:t>กล้องวิดีโอ</a:t>
            </a:r>
            <a:endParaRPr sz="1500" b="1" dirty="0">
              <a:solidFill>
                <a:srgbClr val="2D2428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5DA46-C7B4-4D47-AD2F-497833549AE3}"/>
              </a:ext>
            </a:extLst>
          </p:cNvPr>
          <p:cNvSpPr>
            <a:spLocks noGrp="1"/>
          </p:cNvSpPr>
          <p:nvPr/>
        </p:nvSpPr>
        <p:spPr>
          <a:xfrm>
            <a:off x="5848350" y="2609850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86D72"/>
                </a:solidFill>
              </a:defRPr>
            </a:pPr>
            <a:r>
              <a:rPr sz="1500" b="0" dirty="0" err="1">
                <a:solidFill>
                  <a:srgbClr val="786D72"/>
                </a:solidFill>
              </a:rPr>
              <a:t>บันทึกข้อมูลการเคลื่อนไหวและท่าทาง</a:t>
            </a:r>
            <a:endParaRPr sz="1500" b="0" dirty="0">
              <a:solidFill>
                <a:srgbClr val="786D72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B9ED40D-0589-4643-950E-C48C5EEC82AD}"/>
              </a:ext>
            </a:extLst>
          </p:cNvPr>
          <p:cNvSpPr>
            <a:spLocks noGrp="1"/>
          </p:cNvSpPr>
          <p:nvPr/>
        </p:nvSpPr>
        <p:spPr>
          <a:xfrm>
            <a:off x="8572500" y="1885950"/>
            <a:ext cx="268605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B2DC59A-E57D-41CA-9FAB-BBFF9B8F9C0D}"/>
              </a:ext>
            </a:extLst>
          </p:cNvPr>
          <p:cNvSpPr>
            <a:spLocks noGrp="1"/>
          </p:cNvSpPr>
          <p:nvPr/>
        </p:nvSpPr>
        <p:spPr>
          <a:xfrm>
            <a:off x="8763000" y="20859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A861D3-DF23-437F-A484-FF86AE4C6A7B}"/>
              </a:ext>
            </a:extLst>
          </p:cNvPr>
          <p:cNvSpPr>
            <a:spLocks noGrp="1"/>
          </p:cNvSpPr>
          <p:nvPr/>
        </p:nvSpPr>
        <p:spPr>
          <a:xfrm>
            <a:off x="8763000" y="2190750"/>
            <a:ext cx="4000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74670"/>
                </a:solidFill>
              </a:defRPr>
            </a:pPr>
            <a:r>
              <a:rPr sz="1125" b="1">
                <a:solidFill>
                  <a:srgbClr val="B74670"/>
                </a:solidFill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D1C7AA-10AF-4E86-9F43-6FD0C99B733E}"/>
              </a:ext>
            </a:extLst>
          </p:cNvPr>
          <p:cNvSpPr>
            <a:spLocks noGrp="1"/>
          </p:cNvSpPr>
          <p:nvPr/>
        </p:nvSpPr>
        <p:spPr>
          <a:xfrm>
            <a:off x="9163050" y="2138362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2428"/>
                </a:solidFill>
              </a:defRPr>
            </a:pPr>
            <a:r>
              <a:rPr sz="1500" b="1" dirty="0" err="1">
                <a:solidFill>
                  <a:srgbClr val="2D2428"/>
                </a:solidFill>
              </a:rPr>
              <a:t>mmWave</a:t>
            </a:r>
            <a:r>
              <a:rPr sz="1500" b="1" dirty="0">
                <a:solidFill>
                  <a:srgbClr val="2D2428"/>
                </a:solidFill>
              </a:rPr>
              <a:t> radar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26B4CF-D4E5-4359-827C-A2D509D396A9}"/>
              </a:ext>
            </a:extLst>
          </p:cNvPr>
          <p:cNvSpPr>
            <a:spLocks noGrp="1"/>
          </p:cNvSpPr>
          <p:nvPr/>
        </p:nvSpPr>
        <p:spPr>
          <a:xfrm>
            <a:off x="8763000" y="2609850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86D72"/>
                </a:solidFill>
              </a:defRPr>
            </a:pPr>
            <a:r>
              <a:rPr sz="1500" b="0" dirty="0" err="1">
                <a:solidFill>
                  <a:srgbClr val="786D72"/>
                </a:solidFill>
              </a:rPr>
              <a:t>ตรวจจับการเคลื่อนไหว</a:t>
            </a:r>
            <a:endParaRPr sz="1500" b="0" dirty="0">
              <a:solidFill>
                <a:srgbClr val="786D72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7F2359B-B55F-4938-A2C2-7980D1E86C42}"/>
              </a:ext>
            </a:extLst>
          </p:cNvPr>
          <p:cNvSpPr>
            <a:spLocks noGrp="1"/>
          </p:cNvSpPr>
          <p:nvPr/>
        </p:nvSpPr>
        <p:spPr>
          <a:xfrm>
            <a:off x="5657850" y="3505200"/>
            <a:ext cx="268605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E8792B5-ED06-4EA0-9970-EFD308229EF9}"/>
              </a:ext>
            </a:extLst>
          </p:cNvPr>
          <p:cNvSpPr>
            <a:spLocks noGrp="1"/>
          </p:cNvSpPr>
          <p:nvPr/>
        </p:nvSpPr>
        <p:spPr>
          <a:xfrm>
            <a:off x="5848350" y="37052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60ADF6-9ADD-4A4B-A26A-2720F9B73530}"/>
              </a:ext>
            </a:extLst>
          </p:cNvPr>
          <p:cNvSpPr>
            <a:spLocks noGrp="1"/>
          </p:cNvSpPr>
          <p:nvPr/>
        </p:nvSpPr>
        <p:spPr>
          <a:xfrm>
            <a:off x="5848350" y="3810000"/>
            <a:ext cx="4000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74670"/>
                </a:solidFill>
              </a:defRPr>
            </a:pPr>
            <a:r>
              <a:rPr sz="1125" b="1">
                <a:solidFill>
                  <a:srgbClr val="B74670"/>
                </a:solidFill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F00A7B-8F98-45A2-A72F-893B1092ED5E}"/>
              </a:ext>
            </a:extLst>
          </p:cNvPr>
          <p:cNvSpPr>
            <a:spLocks noGrp="1"/>
          </p:cNvSpPr>
          <p:nvPr/>
        </p:nvSpPr>
        <p:spPr>
          <a:xfrm>
            <a:off x="6281621" y="3773526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2428"/>
                </a:solidFill>
              </a:defRPr>
            </a:pPr>
            <a:r>
              <a:rPr sz="1500" b="1" dirty="0">
                <a:solidFill>
                  <a:srgbClr val="2D2428"/>
                </a:solidFill>
              </a:rPr>
              <a:t>LED illumination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75EE28-33F4-4164-A86D-A436AD8419B7}"/>
              </a:ext>
            </a:extLst>
          </p:cNvPr>
          <p:cNvSpPr>
            <a:spLocks noGrp="1"/>
          </p:cNvSpPr>
          <p:nvPr/>
        </p:nvSpPr>
        <p:spPr>
          <a:xfrm>
            <a:off x="6014921" y="4210050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86D72"/>
                </a:solidFill>
              </a:defRPr>
            </a:pPr>
            <a:r>
              <a:rPr sz="1500" b="0" dirty="0" err="1">
                <a:solidFill>
                  <a:srgbClr val="786D72"/>
                </a:solidFill>
              </a:rPr>
              <a:t>ช่วยให้การบันทึกภาพมีแสงสม่ำเสมอ</a:t>
            </a:r>
            <a:endParaRPr sz="1500" b="0" dirty="0">
              <a:solidFill>
                <a:srgbClr val="786D72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1C2B98B-B953-487F-9E10-74DF30E22534}"/>
              </a:ext>
            </a:extLst>
          </p:cNvPr>
          <p:cNvSpPr>
            <a:spLocks noGrp="1"/>
          </p:cNvSpPr>
          <p:nvPr/>
        </p:nvSpPr>
        <p:spPr>
          <a:xfrm>
            <a:off x="8572500" y="3505200"/>
            <a:ext cx="2686050" cy="1295400"/>
          </a:xfrm>
          <a:prstGeom prst="roundRect">
            <a:avLst>
              <a:gd name="adj" fmla="val 13235"/>
            </a:avLst>
          </a:prstGeom>
          <a:solidFill>
            <a:srgbClr val="FFFFFF"/>
          </a:solidFill>
          <a:ln w="9525">
            <a:solidFill>
              <a:srgbClr val="EADD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EB2A3F3-79FE-4E9D-B762-425300104636}"/>
              </a:ext>
            </a:extLst>
          </p:cNvPr>
          <p:cNvSpPr>
            <a:spLocks noGrp="1"/>
          </p:cNvSpPr>
          <p:nvPr/>
        </p:nvSpPr>
        <p:spPr>
          <a:xfrm>
            <a:off x="8763000" y="37052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A0B6E4-70DD-455E-9748-5B3F6333AF98}"/>
              </a:ext>
            </a:extLst>
          </p:cNvPr>
          <p:cNvSpPr>
            <a:spLocks noGrp="1"/>
          </p:cNvSpPr>
          <p:nvPr/>
        </p:nvSpPr>
        <p:spPr>
          <a:xfrm>
            <a:off x="8763000" y="3810000"/>
            <a:ext cx="4000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B74670"/>
                </a:solidFill>
              </a:defRPr>
            </a:pPr>
            <a:r>
              <a:rPr sz="1125" b="1">
                <a:solidFill>
                  <a:srgbClr val="B74670"/>
                </a:solidFill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9DF1CD-68F3-447B-9464-47EDEC4CBF01}"/>
              </a:ext>
            </a:extLst>
          </p:cNvPr>
          <p:cNvSpPr>
            <a:spLocks noGrp="1"/>
          </p:cNvSpPr>
          <p:nvPr/>
        </p:nvSpPr>
        <p:spPr>
          <a:xfrm>
            <a:off x="9163050" y="3762374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D2428"/>
                </a:solidFill>
              </a:defRPr>
            </a:pPr>
            <a:r>
              <a:rPr sz="1500" b="1" dirty="0">
                <a:solidFill>
                  <a:srgbClr val="2D2428"/>
                </a:solidFill>
              </a:rPr>
              <a:t>Pan mechanism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D4499F-85FC-410A-81A4-D0F1663EB986}"/>
              </a:ext>
            </a:extLst>
          </p:cNvPr>
          <p:cNvSpPr>
            <a:spLocks noGrp="1"/>
          </p:cNvSpPr>
          <p:nvPr/>
        </p:nvSpPr>
        <p:spPr>
          <a:xfrm>
            <a:off x="8801100" y="4165213"/>
            <a:ext cx="2247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786D72"/>
                </a:solidFill>
              </a:defRPr>
            </a:pPr>
            <a:r>
              <a:rPr sz="1500" b="0" dirty="0" err="1">
                <a:solidFill>
                  <a:srgbClr val="786D72"/>
                </a:solidFill>
              </a:rPr>
              <a:t>หมุนเพื่อ</a:t>
            </a:r>
            <a:r>
              <a:rPr lang="th-TH" sz="1500" b="0" dirty="0">
                <a:solidFill>
                  <a:srgbClr val="786D72"/>
                </a:solidFill>
              </a:rPr>
              <a:t>เพิ่ม</a:t>
            </a:r>
            <a:r>
              <a:rPr sz="1500" b="0" dirty="0" err="1">
                <a:solidFill>
                  <a:srgbClr val="786D72"/>
                </a:solidFill>
              </a:rPr>
              <a:t>ขอบเขตการมองเห็น</a:t>
            </a:r>
            <a:endParaRPr sz="1500" b="0" dirty="0">
              <a:solidFill>
                <a:srgbClr val="786D72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3E86F03-0C26-EEA0-6350-EA6082CBE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671" y="1864399"/>
            <a:ext cx="3558480" cy="332196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C1C95A-5E57-DB8C-EBC0-74BB3EC88A5F}"/>
              </a:ext>
            </a:extLst>
          </p:cNvPr>
          <p:cNvSpPr>
            <a:spLocks noGrp="1"/>
          </p:cNvSpPr>
          <p:nvPr/>
        </p:nvSpPr>
        <p:spPr>
          <a:xfrm>
            <a:off x="9239250" y="6581775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86D72"/>
                </a:solidFill>
              </a:defRPr>
            </a:pPr>
            <a:r>
              <a:rPr sz="825" b="0" dirty="0">
                <a:solidFill>
                  <a:srgbClr val="786D72"/>
                </a:solidFill>
              </a:rPr>
              <a:t>1</a:t>
            </a:r>
            <a:r>
              <a:rPr lang="en-US" sz="825" b="0" dirty="0">
                <a:solidFill>
                  <a:srgbClr val="786D72"/>
                </a:solidFill>
              </a:rPr>
              <a:t>8</a:t>
            </a:r>
            <a:r>
              <a:rPr sz="825" b="0" dirty="0">
                <a:solidFill>
                  <a:srgbClr val="786D72"/>
                </a:solidFill>
              </a:rPr>
              <a:t> </a:t>
            </a:r>
            <a:r>
              <a:rPr sz="825" b="0" dirty="0" err="1">
                <a:solidFill>
                  <a:srgbClr val="786D72"/>
                </a:solidFill>
              </a:rPr>
              <a:t>สิงหาคม</a:t>
            </a:r>
            <a:r>
              <a:rPr sz="825" b="0" dirty="0">
                <a:solidFill>
                  <a:srgbClr val="786D72"/>
                </a:solidFill>
              </a:rPr>
              <a:t> 2569 </a:t>
            </a:r>
          </a:p>
        </p:txBody>
      </p:sp>
    </p:spTree>
    <p:extLst>
      <p:ext uri="{BB962C8B-B14F-4D97-AF65-F5344CB8AC3E}">
        <p14:creationId xmlns:p14="http://schemas.microsoft.com/office/powerpoint/2010/main" val="4173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4CD1BF-A218-4B73-4933-49AC4050DD5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74670"/>
                </a:solidFill>
              </a:defRPr>
            </a:pPr>
            <a:r>
              <a:rPr sz="975" b="1" dirty="0">
                <a:solidFill>
                  <a:srgbClr val="B74670"/>
                </a:solidFill>
              </a:rPr>
              <a:t>CAMERA SUBSYSTEM</a:t>
            </a:r>
          </a:p>
        </p:txBody>
      </p:sp>
      <p:pic>
        <p:nvPicPr>
          <p:cNvPr id="3" name="AI-Camera">
            <a:hlinkClick r:id="" action="ppaction://media"/>
            <a:extLst>
              <a:ext uri="{FF2B5EF4-FFF2-40B4-BE49-F238E27FC236}">
                <a16:creationId xmlns:a16="http://schemas.microsoft.com/office/drawing/2014/main" id="{5A61BDA2-0B6E-5DEF-13CE-85B82AFE237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14601" y="1381752"/>
            <a:ext cx="8267598" cy="46505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3F3361-935B-A455-0A18-F0FF94EC5292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586AC2-7D71-98CB-024D-EA0A470FADC4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86D72"/>
                </a:solidFill>
              </a:defRPr>
            </a:pPr>
            <a:r>
              <a:rPr sz="825" b="0">
                <a:solidFill>
                  <a:srgbClr val="786D72"/>
                </a:solidFill>
              </a:rPr>
              <a:t>รายงานความก้าวหน้าต้นแบบระบบประเมินความเสี่ยงหกล้ม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091515-EA1E-5137-F172-C3EB917E0F62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D2428"/>
                </a:solidFill>
              </a:defRPr>
            </a:pPr>
            <a:r>
              <a:rPr lang="th-TH" sz="2850" b="1" dirty="0">
                <a:solidFill>
                  <a:srgbClr val="2D2428"/>
                </a:solidFill>
              </a:rPr>
              <a:t>วิดีโอของตัว</a:t>
            </a:r>
            <a:r>
              <a:rPr sz="2850" b="1" dirty="0" err="1">
                <a:solidFill>
                  <a:srgbClr val="2D2428"/>
                </a:solidFill>
              </a:rPr>
              <a:t>ต้นแบ</a:t>
            </a:r>
            <a:r>
              <a:rPr lang="th-TH" sz="2850" b="1" dirty="0" err="1">
                <a:solidFill>
                  <a:srgbClr val="2D2428"/>
                </a:solidFill>
              </a:rPr>
              <a:t>บ</a:t>
            </a:r>
            <a:endParaRPr sz="2850" b="1" dirty="0">
              <a:solidFill>
                <a:srgbClr val="2D2428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9F54F7-48BE-2B36-5A86-3F4286775CFB}"/>
              </a:ext>
            </a:extLst>
          </p:cNvPr>
          <p:cNvSpPr>
            <a:spLocks noGrp="1"/>
          </p:cNvSpPr>
          <p:nvPr/>
        </p:nvSpPr>
        <p:spPr>
          <a:xfrm>
            <a:off x="9239250" y="6581775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86D72"/>
                </a:solidFill>
              </a:defRPr>
            </a:pPr>
            <a:r>
              <a:rPr sz="825" b="0" dirty="0">
                <a:solidFill>
                  <a:srgbClr val="786D72"/>
                </a:solidFill>
              </a:rPr>
              <a:t>1</a:t>
            </a:r>
            <a:r>
              <a:rPr lang="en-US" sz="825" b="0" dirty="0">
                <a:solidFill>
                  <a:srgbClr val="786D72"/>
                </a:solidFill>
              </a:rPr>
              <a:t>8</a:t>
            </a:r>
            <a:r>
              <a:rPr sz="825" b="0" dirty="0">
                <a:solidFill>
                  <a:srgbClr val="786D72"/>
                </a:solidFill>
              </a:rPr>
              <a:t> </a:t>
            </a:r>
            <a:r>
              <a:rPr sz="825" b="0" dirty="0" err="1">
                <a:solidFill>
                  <a:srgbClr val="786D72"/>
                </a:solidFill>
              </a:rPr>
              <a:t>สิงหาคม</a:t>
            </a:r>
            <a:r>
              <a:rPr sz="825" b="0" dirty="0">
                <a:solidFill>
                  <a:srgbClr val="786D72"/>
                </a:solidFill>
              </a:rPr>
              <a:t> 2569 </a:t>
            </a:r>
          </a:p>
        </p:txBody>
      </p:sp>
    </p:spTree>
    <p:extLst>
      <p:ext uri="{BB962C8B-B14F-4D97-AF65-F5344CB8AC3E}">
        <p14:creationId xmlns:p14="http://schemas.microsoft.com/office/powerpoint/2010/main" val="64752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0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46F7EAE-2222-492C-AC60-73CA0E5AAE6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571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B74670"/>
                </a:solidFill>
              </a:defRPr>
            </a:pPr>
            <a:r>
              <a:rPr sz="975" b="1">
                <a:solidFill>
                  <a:srgbClr val="B74670"/>
                </a:solidFill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D0167B-62DD-4C05-81E9-127FA38AE830}"/>
              </a:ext>
            </a:extLst>
          </p:cNvPr>
          <p:cNvSpPr>
            <a:spLocks noGrp="1"/>
          </p:cNvSpPr>
          <p:nvPr/>
        </p:nvSpPr>
        <p:spPr>
          <a:xfrm>
            <a:off x="533400" y="6381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2D2428"/>
                </a:solidFill>
              </a:defRPr>
            </a:pPr>
            <a:r>
              <a:rPr sz="2850" b="1">
                <a:solidFill>
                  <a:srgbClr val="2D2428"/>
                </a:solidFill>
              </a:rPr>
              <a:t>เปลี่ยนจากต้นแบบสู่การทดสอบและการบูรณาการระบบ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BDBBA-931A-4D8C-ACB1-ED1DAEC5AE92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11125200" cy="9525"/>
          </a:xfrm>
          <a:prstGeom prst="rect">
            <a:avLst/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E58579-3276-4946-B2D2-384AC0DA0F01}"/>
              </a:ext>
            </a:extLst>
          </p:cNvPr>
          <p:cNvSpPr>
            <a:spLocks noGrp="1"/>
          </p:cNvSpPr>
          <p:nvPr/>
        </p:nvSpPr>
        <p:spPr>
          <a:xfrm>
            <a:off x="533400" y="6581775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86D72"/>
                </a:solidFill>
              </a:defRPr>
            </a:pPr>
            <a:r>
              <a:rPr sz="825" b="0">
                <a:solidFill>
                  <a:srgbClr val="786D72"/>
                </a:solidFill>
              </a:rPr>
              <a:t>รายงานความก้าวหน้าต้นแบบระบบประเมินความเสี่ยงหกล้ม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198F46-B139-4B53-A4D8-4BBA05EA988B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786D72"/>
                </a:solidFill>
              </a:defRPr>
            </a:pPr>
            <a:r>
              <a:rPr sz="1500" b="0">
                <a:solidFill>
                  <a:srgbClr val="786D72"/>
                </a:solidFill>
              </a:rPr>
              <a:t>ลำดับต่อไปเชื่อมโยง TOR ข้อ 2–4 โดยอาศัยผลจากการประกอบและทดสอบ AI Camera Module ในรอบปัจจุบัน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117D381-C7B3-44BE-A366-DDF2E554A081}"/>
              </a:ext>
            </a:extLst>
          </p:cNvPr>
          <p:cNvSpPr>
            <a:spLocks noGrp="1"/>
          </p:cNvSpPr>
          <p:nvPr/>
        </p:nvSpPr>
        <p:spPr>
          <a:xfrm>
            <a:off x="971550" y="2371725"/>
            <a:ext cx="28575" cy="400050"/>
          </a:xfrm>
          <a:prstGeom prst="roundRect">
            <a:avLst>
              <a:gd name="adj" fmla="val 50000"/>
            </a:avLst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CCA8E51-1F34-4BB0-9940-86DBE4B7C76D}"/>
              </a:ext>
            </a:extLst>
          </p:cNvPr>
          <p:cNvSpPr>
            <a:spLocks noGrp="1"/>
          </p:cNvSpPr>
          <p:nvPr/>
        </p:nvSpPr>
        <p:spPr>
          <a:xfrm>
            <a:off x="733425" y="18478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DB5F8E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9A666E-7D03-42B4-9631-C267D0CA91AC}"/>
              </a:ext>
            </a:extLst>
          </p:cNvPr>
          <p:cNvSpPr>
            <a:spLocks noGrp="1"/>
          </p:cNvSpPr>
          <p:nvPr/>
        </p:nvSpPr>
        <p:spPr>
          <a:xfrm>
            <a:off x="733425" y="20097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0C53A0-857A-4D30-AC4A-E1920D2ECD3D}"/>
              </a:ext>
            </a:extLst>
          </p:cNvPr>
          <p:cNvSpPr>
            <a:spLocks noGrp="1"/>
          </p:cNvSpPr>
          <p:nvPr/>
        </p:nvSpPr>
        <p:spPr>
          <a:xfrm>
            <a:off x="1504950" y="1866900"/>
            <a:ext cx="438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D2428"/>
                </a:solidFill>
              </a:defRPr>
            </a:pPr>
            <a:r>
              <a:rPr sz="1650" b="1" dirty="0" err="1">
                <a:solidFill>
                  <a:srgbClr val="2D2428"/>
                </a:solidFill>
              </a:rPr>
              <a:t>ปิดงานประกอบ</a:t>
            </a:r>
            <a:r>
              <a:rPr sz="1650" b="1" dirty="0">
                <a:solidFill>
                  <a:srgbClr val="2D2428"/>
                </a:solidFill>
              </a:rPr>
              <a:t> AI Camera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25E5AE-9F5B-4AB5-AAFE-4BA86E701365}"/>
              </a:ext>
            </a:extLst>
          </p:cNvPr>
          <p:cNvSpPr>
            <a:spLocks noGrp="1"/>
          </p:cNvSpPr>
          <p:nvPr/>
        </p:nvSpPr>
        <p:spPr>
          <a:xfrm>
            <a:off x="1504950" y="21717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86D72"/>
                </a:solidFill>
              </a:defRPr>
            </a:pPr>
            <a:r>
              <a:rPr sz="1350" b="0">
                <a:solidFill>
                  <a:srgbClr val="786D72"/>
                </a:solidFill>
              </a:rPr>
              <a:t>เตรียมต้นแบบให้พร้อมสำหรับการทดสอบ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F9520B7-6E5B-4B0E-A597-D71230FDC835}"/>
              </a:ext>
            </a:extLst>
          </p:cNvPr>
          <p:cNvSpPr>
            <a:spLocks noGrp="1"/>
          </p:cNvSpPr>
          <p:nvPr/>
        </p:nvSpPr>
        <p:spPr>
          <a:xfrm>
            <a:off x="971550" y="3286125"/>
            <a:ext cx="28575" cy="400050"/>
          </a:xfrm>
          <a:prstGeom prst="roundRect">
            <a:avLst>
              <a:gd name="adj" fmla="val 50000"/>
            </a:avLst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3A027B6-C6CE-47A3-9629-7EF3D8ED9D4D}"/>
              </a:ext>
            </a:extLst>
          </p:cNvPr>
          <p:cNvSpPr>
            <a:spLocks noGrp="1"/>
          </p:cNvSpPr>
          <p:nvPr/>
        </p:nvSpPr>
        <p:spPr>
          <a:xfrm>
            <a:off x="733425" y="27622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0115C7-0347-4AC6-9C3B-BDDA92ECEDF2}"/>
              </a:ext>
            </a:extLst>
          </p:cNvPr>
          <p:cNvSpPr>
            <a:spLocks noGrp="1"/>
          </p:cNvSpPr>
          <p:nvPr/>
        </p:nvSpPr>
        <p:spPr>
          <a:xfrm>
            <a:off x="733425" y="29241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74670"/>
                </a:solidFill>
              </a:defRPr>
            </a:pPr>
            <a:r>
              <a:rPr sz="1275" b="1">
                <a:solidFill>
                  <a:srgbClr val="B74670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950D60-2264-4A0A-A8C0-032E8555ACAF}"/>
              </a:ext>
            </a:extLst>
          </p:cNvPr>
          <p:cNvSpPr>
            <a:spLocks noGrp="1"/>
          </p:cNvSpPr>
          <p:nvPr/>
        </p:nvSpPr>
        <p:spPr>
          <a:xfrm>
            <a:off x="1504950" y="2781300"/>
            <a:ext cx="438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D2428"/>
                </a:solidFill>
              </a:defRPr>
            </a:pPr>
            <a:r>
              <a:rPr lang="th-TH" sz="1650" b="1" dirty="0">
                <a:solidFill>
                  <a:srgbClr val="2D2428"/>
                </a:solidFill>
              </a:rPr>
              <a:t>เริ่ม</a:t>
            </a:r>
            <a:r>
              <a:rPr sz="1650" b="1" dirty="0" err="1">
                <a:solidFill>
                  <a:srgbClr val="2D2428"/>
                </a:solidFill>
              </a:rPr>
              <a:t>ดำเนิน</a:t>
            </a:r>
            <a:r>
              <a:rPr lang="th-TH" sz="1650" b="1" dirty="0">
                <a:solidFill>
                  <a:srgbClr val="2D2428"/>
                </a:solidFill>
              </a:rPr>
              <a:t>การพัฒนา </a:t>
            </a:r>
            <a:r>
              <a:rPr lang="en-US" sz="1650" b="1" dirty="0">
                <a:solidFill>
                  <a:srgbClr val="2D2428"/>
                </a:solidFill>
              </a:rPr>
              <a:t>Pressing Sensor</a:t>
            </a:r>
            <a:endParaRPr sz="1650" b="1" dirty="0">
              <a:solidFill>
                <a:srgbClr val="2D2428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6D1213-6B7E-4140-B64A-AB035F160862}"/>
              </a:ext>
            </a:extLst>
          </p:cNvPr>
          <p:cNvSpPr>
            <a:spLocks noGrp="1"/>
          </p:cNvSpPr>
          <p:nvPr/>
        </p:nvSpPr>
        <p:spPr>
          <a:xfrm>
            <a:off x="1504950" y="30861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86D72"/>
                </a:solidFill>
              </a:defRPr>
            </a:pPr>
            <a:r>
              <a:rPr sz="1350" b="0">
                <a:solidFill>
                  <a:srgbClr val="786D72"/>
                </a:solidFill>
              </a:rPr>
              <a:t>ออกแบบโครงสร้างการทำงานของแผ่นวัดแรงกด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E310BCC-B5CD-43BA-BC64-BE3387682657}"/>
              </a:ext>
            </a:extLst>
          </p:cNvPr>
          <p:cNvSpPr>
            <a:spLocks noGrp="1"/>
          </p:cNvSpPr>
          <p:nvPr/>
        </p:nvSpPr>
        <p:spPr>
          <a:xfrm>
            <a:off x="971550" y="4200525"/>
            <a:ext cx="28575" cy="400050"/>
          </a:xfrm>
          <a:prstGeom prst="roundRect">
            <a:avLst>
              <a:gd name="adj" fmla="val 50000"/>
            </a:avLst>
          </a:prstGeom>
          <a:solidFill>
            <a:srgbClr val="EADDE3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610F556-45A1-4126-9F8C-2D84E8DD0447}"/>
              </a:ext>
            </a:extLst>
          </p:cNvPr>
          <p:cNvSpPr>
            <a:spLocks noGrp="1"/>
          </p:cNvSpPr>
          <p:nvPr/>
        </p:nvSpPr>
        <p:spPr>
          <a:xfrm>
            <a:off x="733425" y="36766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E28710-E6C6-4C68-AB1A-BB1718D69A62}"/>
              </a:ext>
            </a:extLst>
          </p:cNvPr>
          <p:cNvSpPr>
            <a:spLocks noGrp="1"/>
          </p:cNvSpPr>
          <p:nvPr/>
        </p:nvSpPr>
        <p:spPr>
          <a:xfrm>
            <a:off x="733425" y="38385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74670"/>
                </a:solidFill>
              </a:defRPr>
            </a:pPr>
            <a:r>
              <a:rPr sz="1275" b="1">
                <a:solidFill>
                  <a:srgbClr val="B74670"/>
                </a:solidFill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966FD6-4D26-4683-9D59-962C9607A38B}"/>
              </a:ext>
            </a:extLst>
          </p:cNvPr>
          <p:cNvSpPr>
            <a:spLocks noGrp="1"/>
          </p:cNvSpPr>
          <p:nvPr/>
        </p:nvSpPr>
        <p:spPr>
          <a:xfrm>
            <a:off x="1504950" y="3695700"/>
            <a:ext cx="438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D2428"/>
                </a:solidFill>
              </a:defRPr>
            </a:pPr>
            <a:r>
              <a:rPr sz="1650" b="1" dirty="0">
                <a:solidFill>
                  <a:srgbClr val="2D2428"/>
                </a:solidFill>
              </a:rPr>
              <a:t>Testing </a:t>
            </a:r>
            <a:r>
              <a:rPr sz="1650" b="1" dirty="0" err="1">
                <a:solidFill>
                  <a:srgbClr val="2D2428"/>
                </a:solidFill>
              </a:rPr>
              <a:t>และ</a:t>
            </a:r>
            <a:r>
              <a:rPr sz="1650" b="1" dirty="0">
                <a:solidFill>
                  <a:srgbClr val="2D2428"/>
                </a:solidFill>
              </a:rPr>
              <a:t> Calibration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E49B41-10B3-4E49-9E6A-3425D71C219D}"/>
              </a:ext>
            </a:extLst>
          </p:cNvPr>
          <p:cNvSpPr>
            <a:spLocks noGrp="1"/>
          </p:cNvSpPr>
          <p:nvPr/>
        </p:nvSpPr>
        <p:spPr>
          <a:xfrm>
            <a:off x="1504950" y="40005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86D72"/>
                </a:solidFill>
              </a:defRPr>
            </a:pPr>
            <a:r>
              <a:rPr sz="1350" b="0" dirty="0" err="1">
                <a:solidFill>
                  <a:srgbClr val="786D72"/>
                </a:solidFill>
              </a:rPr>
              <a:t>ทดสอบกล้อง</a:t>
            </a:r>
            <a:r>
              <a:rPr sz="1350" b="0" dirty="0">
                <a:solidFill>
                  <a:srgbClr val="786D72"/>
                </a:solidFill>
              </a:rPr>
              <a:t> AI </a:t>
            </a:r>
            <a:r>
              <a:rPr sz="1350" b="0" dirty="0" err="1">
                <a:solidFill>
                  <a:srgbClr val="786D72"/>
                </a:solidFill>
              </a:rPr>
              <a:t>และเซ็นเซอร์แรงกดหลังพร้อมใช้งาน</a:t>
            </a:r>
            <a:endParaRPr sz="1350" b="0" dirty="0">
              <a:solidFill>
                <a:srgbClr val="786D72"/>
              </a:solidFill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3821806-F923-416D-B94B-1ABB74D25284}"/>
              </a:ext>
            </a:extLst>
          </p:cNvPr>
          <p:cNvSpPr>
            <a:spLocks noGrp="1"/>
          </p:cNvSpPr>
          <p:nvPr/>
        </p:nvSpPr>
        <p:spPr>
          <a:xfrm>
            <a:off x="733425" y="45910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CE8F0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101855-8D26-42CE-92B2-F27D7EC2E3F6}"/>
              </a:ext>
            </a:extLst>
          </p:cNvPr>
          <p:cNvSpPr>
            <a:spLocks noGrp="1"/>
          </p:cNvSpPr>
          <p:nvPr/>
        </p:nvSpPr>
        <p:spPr>
          <a:xfrm>
            <a:off x="733425" y="47529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74670"/>
                </a:solidFill>
              </a:defRPr>
            </a:pPr>
            <a:r>
              <a:rPr sz="1275" b="1">
                <a:solidFill>
                  <a:srgbClr val="B74670"/>
                </a:solidFill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438CAC-E10A-4D5D-85A0-5103E7E3B860}"/>
              </a:ext>
            </a:extLst>
          </p:cNvPr>
          <p:cNvSpPr>
            <a:spLocks noGrp="1"/>
          </p:cNvSpPr>
          <p:nvPr/>
        </p:nvSpPr>
        <p:spPr>
          <a:xfrm>
            <a:off x="1504950" y="4610100"/>
            <a:ext cx="4381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D2428"/>
                </a:solidFill>
              </a:defRPr>
            </a:pPr>
            <a:r>
              <a:rPr sz="1650" b="1">
                <a:solidFill>
                  <a:srgbClr val="2D2428"/>
                </a:solidFill>
              </a:rPr>
              <a:t>สรุปข้อมูลและเชื่อมระบบ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F79149-0AF0-4ADF-A178-756B58520891}"/>
              </a:ext>
            </a:extLst>
          </p:cNvPr>
          <p:cNvSpPr>
            <a:spLocks noGrp="1"/>
          </p:cNvSpPr>
          <p:nvPr/>
        </p:nvSpPr>
        <p:spPr>
          <a:xfrm>
            <a:off x="1504950" y="49149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786D72"/>
                </a:solidFill>
              </a:defRPr>
            </a:pPr>
            <a:r>
              <a:rPr sz="1350" b="0" dirty="0" err="1">
                <a:solidFill>
                  <a:srgbClr val="786D72"/>
                </a:solidFill>
              </a:rPr>
              <a:t>รวบรวมประเด็นทางเทคนิคเพื่อพัฒนาระบบและโมเดล</a:t>
            </a:r>
            <a:r>
              <a:rPr sz="1350" b="0" dirty="0">
                <a:solidFill>
                  <a:srgbClr val="786D72"/>
                </a:solidFill>
              </a:rPr>
              <a:t> AI </a:t>
            </a:r>
            <a:r>
              <a:rPr sz="1350" b="0" dirty="0" err="1">
                <a:solidFill>
                  <a:srgbClr val="786D72"/>
                </a:solidFill>
              </a:rPr>
              <a:t>ต่อไป</a:t>
            </a:r>
            <a:endParaRPr sz="1350" b="0" dirty="0">
              <a:solidFill>
                <a:srgbClr val="786D72"/>
              </a:solidFill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76970BC-4E12-4299-B9D8-EDE7441488AB}"/>
              </a:ext>
            </a:extLst>
          </p:cNvPr>
          <p:cNvSpPr>
            <a:spLocks noGrp="1"/>
          </p:cNvSpPr>
          <p:nvPr/>
        </p:nvSpPr>
        <p:spPr>
          <a:xfrm>
            <a:off x="7277100" y="4706516"/>
            <a:ext cx="4524375" cy="1266823"/>
          </a:xfrm>
          <a:prstGeom prst="roundRect">
            <a:avLst>
              <a:gd name="adj" fmla="val 20000"/>
            </a:avLst>
          </a:prstGeom>
          <a:solidFill>
            <a:srgbClr val="FCF8FA"/>
          </a:solidFill>
          <a:ln w="0">
            <a:noFill/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C0CC93-956C-46D7-A99E-8A7B1B448E6F}"/>
              </a:ext>
            </a:extLst>
          </p:cNvPr>
          <p:cNvSpPr>
            <a:spLocks noGrp="1"/>
          </p:cNvSpPr>
          <p:nvPr/>
        </p:nvSpPr>
        <p:spPr>
          <a:xfrm>
            <a:off x="7486650" y="4839864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B74670"/>
                </a:solidFill>
              </a:defRPr>
            </a:pPr>
            <a:r>
              <a:rPr sz="1600" b="1" dirty="0" err="1">
                <a:solidFill>
                  <a:srgbClr val="B74670"/>
                </a:solidFill>
              </a:rPr>
              <a:t>เป้าหมายของรอบถัดไป</a:t>
            </a:r>
            <a:endParaRPr sz="1600" b="1" dirty="0">
              <a:solidFill>
                <a:srgbClr val="B7467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90C8AD-2C66-4165-8763-16B637A19186}"/>
              </a:ext>
            </a:extLst>
          </p:cNvPr>
          <p:cNvSpPr>
            <a:spLocks noGrp="1"/>
          </p:cNvSpPr>
          <p:nvPr/>
        </p:nvSpPr>
        <p:spPr>
          <a:xfrm>
            <a:off x="7486650" y="5135139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D2428"/>
                </a:solidFill>
              </a:defRPr>
            </a:pPr>
            <a:r>
              <a:rPr sz="1600" b="1" dirty="0" err="1">
                <a:solidFill>
                  <a:srgbClr val="2D2428"/>
                </a:solidFill>
              </a:rPr>
              <a:t>ได้ข้อมูลเพียงพอสำหรับประเมินความเป็นไปได้</a:t>
            </a:r>
            <a:endParaRPr sz="1600" b="1" dirty="0">
              <a:solidFill>
                <a:srgbClr val="2D2428"/>
              </a:solidFill>
            </a:endParaRPr>
          </a:p>
          <a:p>
            <a:pPr algn="l">
              <a:defRPr sz="1200" b="1">
                <a:solidFill>
                  <a:srgbClr val="2D2428"/>
                </a:solidFill>
              </a:defRPr>
            </a:pPr>
            <a:r>
              <a:rPr sz="1600" b="1" dirty="0" err="1">
                <a:solidFill>
                  <a:srgbClr val="2D2428"/>
                </a:solidFill>
              </a:rPr>
              <a:t>และเตรียมบูรณาการกับระบบประเมินความเสี่ยงหกล้ม</a:t>
            </a:r>
            <a:endParaRPr sz="1600" b="1" dirty="0">
              <a:solidFill>
                <a:srgbClr val="2D2428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BB65BA-8313-C3C8-FA29-F9D1EE65FEF0}"/>
              </a:ext>
            </a:extLst>
          </p:cNvPr>
          <p:cNvSpPr>
            <a:spLocks noGrp="1"/>
          </p:cNvSpPr>
          <p:nvPr/>
        </p:nvSpPr>
        <p:spPr>
          <a:xfrm>
            <a:off x="9239250" y="6581775"/>
            <a:ext cx="2419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86D72"/>
                </a:solidFill>
              </a:defRPr>
            </a:pPr>
            <a:r>
              <a:rPr sz="825" b="0" dirty="0">
                <a:solidFill>
                  <a:srgbClr val="786D72"/>
                </a:solidFill>
              </a:rPr>
              <a:t>1</a:t>
            </a:r>
            <a:r>
              <a:rPr lang="en-US" sz="825" b="0" dirty="0">
                <a:solidFill>
                  <a:srgbClr val="786D72"/>
                </a:solidFill>
              </a:rPr>
              <a:t>8</a:t>
            </a:r>
            <a:r>
              <a:rPr sz="825" b="0" dirty="0">
                <a:solidFill>
                  <a:srgbClr val="786D72"/>
                </a:solidFill>
              </a:rPr>
              <a:t> </a:t>
            </a:r>
            <a:r>
              <a:rPr sz="825" b="0" dirty="0" err="1">
                <a:solidFill>
                  <a:srgbClr val="786D72"/>
                </a:solidFill>
              </a:rPr>
              <a:t>สิงหาคม</a:t>
            </a:r>
            <a:r>
              <a:rPr sz="825" b="0" dirty="0">
                <a:solidFill>
                  <a:srgbClr val="786D72"/>
                </a:solidFill>
              </a:rPr>
              <a:t> 2569 </a:t>
            </a:r>
          </a:p>
        </p:txBody>
      </p:sp>
    </p:spTree>
    <p:extLst>
      <p:ext uri="{BB962C8B-B14F-4D97-AF65-F5344CB8AC3E}">
        <p14:creationId xmlns:p14="http://schemas.microsoft.com/office/powerpoint/2010/main" val="20830789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839</Words>
  <Application>Microsoft Macintosh PowerPoint</Application>
  <DocSecurity>0</DocSecurity>
  <PresentationFormat>Widescreen</PresentationFormat>
  <Paragraphs>146</Paragraphs>
  <Slides>11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TH Sarabun PSK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Naparat Sathirasattayanon</cp:lastModifiedBy>
  <cp:revision>11</cp:revision>
  <dcterms:created xsi:type="dcterms:W3CDTF">2026-08-15T07:55:24Z</dcterms:created>
  <dcterms:modified xsi:type="dcterms:W3CDTF">2026-08-18T10:55:01Z</dcterms:modified>
</cp:coreProperties>
</file>